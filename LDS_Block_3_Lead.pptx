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Int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ULrVs0r2NZ8erQb5VnRJ6sbO1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InterMedium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1eef718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1eef718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e33c6017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9e33c6017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e33c6017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9e33c6017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eef7185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eef7185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56c05ef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56c05ef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103f679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9103f679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03f679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9103f679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33c6017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9e33c6017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33c6017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e33c6017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eef7185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1eef7185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03f6795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103f6795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eef7185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a1eef7185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eef718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a1eef718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fa3a751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a1fa3a751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fa3a751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a1fa3a751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fa3a751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1fa3a751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wWqVpqgQtLaHM417dnKRpNROZMakndBb/view" TargetMode="External"/><Relationship Id="rId5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07800" y="1710025"/>
            <a:ext cx="89283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3700">
                <a:solidFill>
                  <a:srgbClr val="0E3449"/>
                </a:solidFill>
              </a:rPr>
              <a:t>Automatic Fraud Detection</a:t>
            </a:r>
            <a:r>
              <a:rPr lang="fr" sz="3700">
                <a:solidFill>
                  <a:srgbClr val="0E3449"/>
                </a:solidFill>
              </a:rPr>
              <a:t> (AIA block 3)</a:t>
            </a:r>
            <a:endParaRPr sz="3700">
              <a:solidFill>
                <a:srgbClr val="0E3449"/>
              </a:solidFill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type="ctrTitle"/>
          </p:nvPr>
        </p:nvSpPr>
        <p:spPr>
          <a:xfrm>
            <a:off x="0" y="3643262"/>
            <a:ext cx="53151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fr" sz="700"/>
              <a:t>Aurélien Chalm</a:t>
            </a:r>
            <a:endParaRPr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fr" sz="900"/>
              <a:t>GitHub : https://github.com/aurelienchalm/LDS_block_3_lead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idx="4294967295" type="ctrTitle"/>
          </p:nvPr>
        </p:nvSpPr>
        <p:spPr>
          <a:xfrm>
            <a:off x="1085800" y="1699000"/>
            <a:ext cx="85215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b="1" lang="fr" sz="2400"/>
              <a:t>ntexte &amp; besoin métier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1eef71857_0_6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/>
              <a:t>Contexte &amp; besoin métier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a1eef71857_0_6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/>
              <a:t>Un enjeu majeur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La fraude aux cartes bancaires dépasse </a:t>
            </a:r>
            <a:r>
              <a:rPr b="1" lang="fr" sz="1100"/>
              <a:t>1 milliard d’euros/an en Europe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Les équipes paiement doivent réagir </a:t>
            </a:r>
            <a:r>
              <a:rPr b="1" lang="fr" sz="1100"/>
              <a:t>en temps réel</a:t>
            </a:r>
            <a:r>
              <a:rPr lang="fr" sz="1100"/>
              <a:t> pour limiter les pertes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/>
              <a:t>Les besoins identifiés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Détecter instantanément</a:t>
            </a:r>
            <a:r>
              <a:rPr lang="fr" sz="1100"/>
              <a:t> les transactions frauduleuses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Alerter automatiquement</a:t>
            </a:r>
            <a:r>
              <a:rPr lang="fr" sz="1100"/>
              <a:t> les équipes en cas de suspicion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Visualiser les transactions</a:t>
            </a:r>
            <a:r>
              <a:rPr lang="fr" sz="1100"/>
              <a:t> via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un rapport quotidien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un dashboard de suivi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Maintenir la performance du modèle</a:t>
            </a:r>
            <a:r>
              <a:rPr lang="fr" sz="1100"/>
              <a:t>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Surveiller le </a:t>
            </a:r>
            <a:r>
              <a:rPr b="1" lang="fr" sz="1100"/>
              <a:t>data drift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fr" sz="1100"/>
              <a:t>Ré-entraîner</a:t>
            </a:r>
            <a:r>
              <a:rPr lang="fr" sz="1100"/>
              <a:t> le modèle dès que nécessaire</a:t>
            </a: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</p:txBody>
      </p:sp>
      <p:pic>
        <p:nvPicPr>
          <p:cNvPr id="70" name="Google Shape;70;g3a1eef71857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e33c6017c_0_38"/>
          <p:cNvSpPr txBox="1"/>
          <p:nvPr>
            <p:ph idx="4294967295" type="ctrTitle"/>
          </p:nvPr>
        </p:nvSpPr>
        <p:spPr>
          <a:xfrm>
            <a:off x="1078900" y="1673275"/>
            <a:ext cx="71157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" sz="2400"/>
              <a:t>Architecture de </a:t>
            </a:r>
            <a:r>
              <a:rPr b="1" lang="fr" sz="2400"/>
              <a:t>détection</a:t>
            </a:r>
            <a:r>
              <a:rPr b="1" lang="fr" sz="2400"/>
              <a:t> de fraude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" name="Google Shape;76;g39e33c6017c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33c6017c_0_43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Entraînement initial</a:t>
            </a:r>
            <a:r>
              <a:rPr b="1" lang="fr" sz="1700"/>
              <a:t> du modèle (Notebook -&gt; MLflow)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g39e33c6017c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9e33c6017c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7150" y="672625"/>
            <a:ext cx="5993273" cy="4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eef71857_0_21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Schéma d’architecture global en production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a1eef7185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a1eef71857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925" y="724100"/>
            <a:ext cx="7858101" cy="4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6c05effe_0_10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A</a:t>
            </a:r>
            <a:r>
              <a:rPr b="1" lang="fr" sz="1700"/>
              <a:t>rchitecture de prédiction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a56c05effe_0_10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/>
              <a:t>🧪 Étape 1 – Développement du modèle de ML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Entraînement d’un modèle de </a:t>
            </a:r>
            <a:r>
              <a:rPr b="1" lang="fr" sz="1100"/>
              <a:t>détection de fraude</a:t>
            </a:r>
            <a:r>
              <a:rPr lang="fr" sz="1100"/>
              <a:t> dans un </a:t>
            </a:r>
            <a:r>
              <a:rPr b="1" lang="fr" sz="1100"/>
              <a:t>notebook</a:t>
            </a:r>
            <a:r>
              <a:rPr lang="fr" sz="1100"/>
              <a:t> (EDA, preprocessing, features, tuning, évaluation).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 modèle le plus performant est </a:t>
            </a:r>
            <a:r>
              <a:rPr b="1" lang="fr" sz="1100"/>
              <a:t>enregistré dans MLflow</a:t>
            </a:r>
            <a:r>
              <a:rPr lang="fr" sz="1100"/>
              <a:t> et promu comme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fr" sz="1100"/>
              <a:t>Version de production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Tagué </a:t>
            </a:r>
            <a:r>
              <a:rPr b="1" lang="fr" sz="1100"/>
              <a:t>champion=true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Création d’une table </a:t>
            </a:r>
            <a:r>
              <a:rPr b="1" lang="fr" sz="1100"/>
              <a:t>fraud_training_dataset</a:t>
            </a:r>
            <a:r>
              <a:rPr lang="fr" sz="1100"/>
              <a:t> dans NeonDB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Contient </a:t>
            </a:r>
            <a:r>
              <a:rPr b="1" lang="fr" sz="1100"/>
              <a:t>toute la donnée d’entraînement initiale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Servira de </a:t>
            </a:r>
            <a:r>
              <a:rPr b="1" lang="fr" sz="1100"/>
              <a:t>base pour le </a:t>
            </a:r>
            <a:r>
              <a:rPr b="1" lang="fr" sz="1100"/>
              <a:t>réentraînement</a:t>
            </a:r>
            <a:r>
              <a:rPr lang="fr" sz="1100"/>
              <a:t> en cas de drift détecté.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97" name="Google Shape;97;g3a56c05effe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103f67953_0_5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Architecture de prédiction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9103f67953_0_5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300"/>
              <a:t>⚙️ Étape 2 – Mise en production &amp; scoring temps réel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Airflow</a:t>
            </a:r>
            <a:r>
              <a:rPr lang="fr" sz="1100"/>
              <a:t> exécute un DAG fraud_realtime_predict à intervalle régulier:</a:t>
            </a:r>
            <a:br>
              <a:rPr lang="fr" sz="1100"/>
            </a:b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Appel de l’</a:t>
            </a:r>
            <a:r>
              <a:rPr b="1" lang="fr" sz="1100"/>
              <a:t>API de prédiction</a:t>
            </a:r>
            <a:r>
              <a:rPr lang="fr" sz="1100"/>
              <a:t> qui :</a:t>
            </a:r>
            <a:br>
              <a:rPr lang="fr" sz="1100"/>
            </a:b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fr" sz="1100"/>
              <a:t>Appel l’API de paiements pour récupérer les transactions </a:t>
            </a:r>
            <a:endParaRPr sz="1100"/>
          </a:p>
          <a:p>
            <a: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fr" sz="1100"/>
              <a:t>Charge le modèle champion depuis MLflow</a:t>
            </a:r>
            <a:endParaRPr b="1" sz="1100"/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fr" sz="1100"/>
              <a:t>Calcule la </a:t>
            </a:r>
            <a:r>
              <a:rPr b="1" lang="fr" sz="1100"/>
              <a:t>probabilité de fraude</a:t>
            </a:r>
            <a:endParaRPr b="1" sz="1100"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fr" sz="1100"/>
              <a:t>Insère les résultats dans </a:t>
            </a:r>
            <a:r>
              <a:rPr b="1" lang="fr" sz="1100"/>
              <a:t>NeonDB → fraud_realtime_predictions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Si une fraude est détectée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Envoi d’un </a:t>
            </a:r>
            <a:r>
              <a:rPr b="1" lang="fr" sz="1100"/>
              <a:t>mail d’alerte automatique</a:t>
            </a:r>
            <a:r>
              <a:rPr lang="fr" sz="1100"/>
              <a:t> aux équipes métiers via l’API </a:t>
            </a:r>
            <a:r>
              <a:rPr b="1" lang="fr" sz="1100"/>
              <a:t>Resend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Les équipes métiers peuvent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Consulter les transactions et fraudes via un </a:t>
            </a:r>
            <a:r>
              <a:rPr b="1" lang="fr" sz="1100"/>
              <a:t>dashboard Streamlit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104" name="Google Shape;104;g39103f67953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103f67953_0_16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Architecture de prédiction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9103f67953_0_16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300"/>
              <a:t>📊 Reporting quotidien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Un DAG </a:t>
            </a:r>
            <a:r>
              <a:rPr b="1" lang="fr" sz="1100"/>
              <a:t>daily_fraud_report</a:t>
            </a:r>
            <a:r>
              <a:rPr lang="fr" sz="1100"/>
              <a:t> s'exécute une fois par jour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Sélection des transactions de la veille dans fraud_realtime_predictions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Génération d’un </a:t>
            </a:r>
            <a:r>
              <a:rPr b="1" lang="fr" sz="1100"/>
              <a:t>rapport synthétique</a:t>
            </a:r>
            <a:r>
              <a:rPr lang="fr" sz="1100"/>
              <a:t>, incluant la présence de fraudes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Envoi du rapport par email aux équipes métiers.</a:t>
            </a:r>
            <a:endParaRPr b="1" sz="1300"/>
          </a:p>
        </p:txBody>
      </p:sp>
      <p:pic>
        <p:nvPicPr>
          <p:cNvPr id="111" name="Google Shape;111;g39103f67953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e33c6017c_0_92"/>
          <p:cNvSpPr txBox="1"/>
          <p:nvPr>
            <p:ph idx="4294967295" type="ctrTitle"/>
          </p:nvPr>
        </p:nvSpPr>
        <p:spPr>
          <a:xfrm>
            <a:off x="404075" y="1666825"/>
            <a:ext cx="85530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Architecture de </a:t>
            </a:r>
            <a:r>
              <a:rPr b="1" lang="fr" sz="2400"/>
              <a:t>détection</a:t>
            </a:r>
            <a:r>
              <a:rPr b="1" lang="fr" sz="2400"/>
              <a:t> de drift de la donnée</a:t>
            </a:r>
            <a:endParaRPr b="1" i="0" sz="5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g39e33c6017c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e33c6017c_0_85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</a:t>
            </a:r>
            <a:r>
              <a:rPr b="1" lang="fr" sz="1700"/>
              <a:t>de detection de drift de la donnée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9e33c6017c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9e33c6017c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5500"/>
            <a:ext cx="8583600" cy="43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1eef71857_0_32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Détection</a:t>
            </a:r>
            <a:r>
              <a:rPr b="1" lang="fr" sz="1700"/>
              <a:t> du drift de la donnée avec Evidently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1eef71857_0_32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🔍 Détection quotidienne du drift de la donnée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Airflow exécute chaque jour</a:t>
            </a:r>
            <a:r>
              <a:rPr lang="fr" sz="1100"/>
              <a:t> le DAG fraud_drift_monitoring.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 DAG construit la </a:t>
            </a:r>
            <a:r>
              <a:rPr b="1" lang="fr" sz="1100"/>
              <a:t>baseline de référence</a:t>
            </a:r>
            <a:r>
              <a:rPr lang="fr" sz="1100"/>
              <a:t>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Il récupère dans </a:t>
            </a:r>
            <a:r>
              <a:rPr b="1" lang="fr" sz="1100"/>
              <a:t>NeonDB (fraud_training_dataset)</a:t>
            </a:r>
            <a:br>
              <a:rPr b="1" lang="fr" sz="1100"/>
            </a:br>
            <a:br>
              <a:rPr b="1" lang="fr" sz="1100"/>
            </a:br>
            <a:r>
              <a:rPr lang="fr" sz="1100"/>
              <a:t> → la donnée d’entraînement historique</a:t>
            </a:r>
            <a:br>
              <a:rPr lang="fr" sz="1100"/>
            </a:br>
            <a:br>
              <a:rPr lang="fr" sz="1100"/>
            </a:br>
            <a:r>
              <a:rPr lang="fr" sz="1100"/>
              <a:t> → + la donnée issues des prédictions j-1 (pour avoir la journée complète)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Il génère un CSV baseline et l’enregistre dans </a:t>
            </a:r>
            <a:r>
              <a:rPr b="1" lang="fr" sz="1100"/>
              <a:t>S3</a:t>
            </a:r>
            <a:r>
              <a:rPr lang="fr" sz="1100"/>
              <a:t>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Evidently</a:t>
            </a:r>
            <a:r>
              <a:rPr lang="fr" sz="1100"/>
              <a:t> compare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la baseline stockée dans S3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avec les </a:t>
            </a:r>
            <a:r>
              <a:rPr b="1" lang="fr" sz="1100"/>
              <a:t>transactions prédites à j-1</a:t>
            </a: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pic>
        <p:nvPicPr>
          <p:cNvPr id="131" name="Google Shape;131;g3a1eef71857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103f67953_0_23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Détection du drift de la donnée avec Evidently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9103f67953_0_23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Si dérive détectée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Envoi automatique d’un </a:t>
            </a:r>
            <a:r>
              <a:rPr b="1" lang="fr" sz="1100"/>
              <a:t>email d’alerte</a:t>
            </a:r>
            <a:r>
              <a:rPr lang="fr" sz="1100"/>
              <a:t> (via Resend)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L’email contient le </a:t>
            </a:r>
            <a:r>
              <a:rPr b="1" lang="fr" sz="1100"/>
              <a:t>lien direct vers le rapport Evidently</a:t>
            </a:r>
            <a:r>
              <a:rPr lang="fr" sz="1100"/>
              <a:t> (HTML + JSON sur S3)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Validation métier avant ré-entraînement :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En cas de drift, l’équipe data analyse le rapport de drift d’Evidently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Elle demande aux équipes métiers de valider la colonne </a:t>
            </a:r>
            <a:r>
              <a:rPr b="1" lang="fr" sz="1100"/>
              <a:t>is_fraud </a:t>
            </a:r>
            <a:r>
              <a:rPr lang="fr" sz="1100"/>
              <a:t>prédite sur la donnée qui a driftée (sous forme d’un csv)</a:t>
            </a:r>
            <a:br>
              <a:rPr lang="fr" sz="1100"/>
            </a:br>
            <a:br>
              <a:rPr lang="fr" sz="1100"/>
            </a:br>
            <a:r>
              <a:rPr lang="fr" sz="1100"/>
              <a:t> but : éviter de réentraîner le modèle sur ses propres erreurs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Boucle d’enrichissement continue :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Une fois le csv validé par les équipes métiers il est déposé sur le S3 pour permettre le </a:t>
            </a:r>
            <a:r>
              <a:rPr lang="fr" sz="1100"/>
              <a:t>réentraînement</a:t>
            </a:r>
            <a:r>
              <a:rPr lang="fr" sz="1100"/>
              <a:t> du modèle.</a:t>
            </a:r>
            <a:br>
              <a:rPr lang="fr" sz="1100"/>
            </a:b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138" name="Google Shape;138;g39103f67953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1eef71857_0_39"/>
          <p:cNvSpPr txBox="1"/>
          <p:nvPr>
            <p:ph idx="4294967295" type="ctrTitle"/>
          </p:nvPr>
        </p:nvSpPr>
        <p:spPr>
          <a:xfrm>
            <a:off x="404075" y="1666825"/>
            <a:ext cx="85530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Ré</a:t>
            </a:r>
            <a:r>
              <a:rPr b="1" lang="fr" sz="2400"/>
              <a:t>entraînement</a:t>
            </a:r>
            <a:r>
              <a:rPr b="1" lang="fr" sz="2400"/>
              <a:t> du modèle en cas de drift détecté</a:t>
            </a:r>
            <a:endParaRPr b="1" i="0" sz="5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g3a1eef71857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eef71857_0_45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Schéma du ré-</a:t>
            </a:r>
            <a:r>
              <a:rPr b="1" lang="fr" sz="1700"/>
              <a:t>entraînement</a:t>
            </a:r>
            <a:r>
              <a:rPr b="1" lang="fr" sz="1700"/>
              <a:t> du modèle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a1eef71857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a1eef71857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85500"/>
            <a:ext cx="8839198" cy="4278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fa3a7511_0_11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Ré</a:t>
            </a:r>
            <a:r>
              <a:rPr b="1" lang="fr" sz="1700"/>
              <a:t>entraînement</a:t>
            </a:r>
            <a:r>
              <a:rPr b="1" lang="fr" sz="1700"/>
              <a:t> du modèle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a1fa3a7511_0_11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Objectif : garantir des </a:t>
            </a:r>
            <a:r>
              <a:rPr b="1" lang="fr" sz="1100"/>
              <a:t>prédictions fiables dans le temps</a:t>
            </a:r>
            <a:r>
              <a:rPr lang="fr" sz="1100"/>
              <a:t>, même si la donnée évolue.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Lorsque l’équipe décide de réentraîner le modèle (suite à un drift validé),</a:t>
            </a:r>
            <a:br>
              <a:rPr lang="fr" sz="1100"/>
            </a:br>
            <a:br>
              <a:rPr lang="fr" sz="1100"/>
            </a:br>
            <a:r>
              <a:rPr lang="fr" sz="1100"/>
              <a:t> </a:t>
            </a:r>
            <a:r>
              <a:rPr b="1" lang="fr" sz="1100"/>
              <a:t>Airflow déclenche un pipeline Jenkins</a:t>
            </a:r>
            <a:r>
              <a:rPr lang="fr" sz="1100"/>
              <a:t> via le DAG trigger_jenkins_fraud_retrain.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Jenkins exécute le pipeline CI/CD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Récupération du code source sur </a:t>
            </a:r>
            <a:r>
              <a:rPr b="1" lang="fr" sz="1100"/>
              <a:t>GitHub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Construction de l’image de test → exécution des </a:t>
            </a:r>
            <a:r>
              <a:rPr b="1" lang="fr" sz="1100"/>
              <a:t>tests PyTest</a:t>
            </a:r>
            <a:br>
              <a:rPr b="1" lang="fr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/>
              <a:t>Si tout est valide → exécution du script Python de réentraînement (avec récupération de la donnée validée par le métier -&gt; nouvelles données ajoutées dans la table d’entrainement)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 script entraîne un nouveau modèle XGBoost, le loggue dans </a:t>
            </a:r>
            <a:r>
              <a:rPr b="1" lang="fr" sz="1100"/>
              <a:t>MLflow</a:t>
            </a:r>
            <a:r>
              <a:rPr lang="fr" sz="1100"/>
              <a:t>,</a:t>
            </a:r>
            <a:br>
              <a:rPr lang="fr" sz="1100"/>
            </a:br>
            <a:br>
              <a:rPr lang="fr" sz="1100"/>
            </a:br>
            <a:r>
              <a:rPr lang="fr" sz="1100"/>
              <a:t> puis le </a:t>
            </a:r>
            <a:r>
              <a:rPr b="1" lang="fr" sz="1100"/>
              <a:t>tague “champion”</a:t>
            </a:r>
            <a:r>
              <a:rPr lang="fr" sz="1100"/>
              <a:t>, ce qui remplace la version actuellement en production.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L’API de prédiction interroge en continu </a:t>
            </a:r>
            <a:r>
              <a:rPr b="1" lang="fr" sz="1100"/>
              <a:t>le modèle “champion”</a:t>
            </a:r>
            <a:r>
              <a:rPr lang="fr" sz="1100"/>
              <a:t> sur MLflow :</a:t>
            </a:r>
            <a:br>
              <a:rPr lang="fr" sz="1100"/>
            </a:br>
            <a:br>
              <a:rPr lang="fr" sz="1100"/>
            </a:br>
            <a:r>
              <a:rPr lang="fr" sz="1100"/>
              <a:t> → la nouvelle version est immédiatement opérationnelle,	→ sans interruption de service.</a:t>
            </a:r>
            <a:br>
              <a:rPr lang="fr" sz="1100"/>
            </a:b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58" name="Google Shape;158;g3a1fa3a7511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fa3a7511_0_18"/>
          <p:cNvSpPr txBox="1"/>
          <p:nvPr>
            <p:ph idx="4294967295" type="ctrTitle"/>
          </p:nvPr>
        </p:nvSpPr>
        <p:spPr>
          <a:xfrm>
            <a:off x="404075" y="1666825"/>
            <a:ext cx="85530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400"/>
              <a:t>Video de l’a</a:t>
            </a:r>
            <a:r>
              <a:rPr b="1" i="0" lang="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rchitecture</a:t>
            </a:r>
            <a:endParaRPr b="1" i="0" sz="5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g3a1fa3a7511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fa3a7511_0_52"/>
          <p:cNvSpPr txBox="1"/>
          <p:nvPr>
            <p:ph idx="4294967295" type="ctrTitle"/>
          </p:nvPr>
        </p:nvSpPr>
        <p:spPr>
          <a:xfrm>
            <a:off x="1192678" y="0"/>
            <a:ext cx="6846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/>
              <a:t>Vidéo de l’a</a:t>
            </a:r>
            <a:r>
              <a:rPr b="1" i="0" lang="f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rchitecture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1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a1fa3a7511_0_52"/>
          <p:cNvSpPr txBox="1"/>
          <p:nvPr>
            <p:ph idx="4294967295" type="ctrTitle"/>
          </p:nvPr>
        </p:nvSpPr>
        <p:spPr>
          <a:xfrm>
            <a:off x="0" y="385900"/>
            <a:ext cx="91440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b="0" i="0" lang="f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71" name="Google Shape;171;g3a1fa3a7511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a1fa3a7511_0_52" title="demo_auto_fraud_detection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33100"/>
            <a:ext cx="9143999" cy="460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77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idx="4294967295" type="ctrTitle"/>
          </p:nvPr>
        </p:nvSpPr>
        <p:spPr>
          <a:xfrm>
            <a:off x="0" y="392775"/>
            <a:ext cx="8160600" cy="4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Conclusion – Un pipeline complet de détection &amp; monitoring de fraude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Détection en temps réel grâce à une API FastAPI qui appel un modèle ML hébergé et versionné dans MLflow (tag champion).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Orchestration avec Airflow, pilotant : les prédictions quotidiennes, l’envoi d’alertes métiers, la génération automatique des rapports, le ré</a:t>
            </a:r>
            <a:r>
              <a:rPr b="1" lang="fr" sz="1000">
                <a:solidFill>
                  <a:schemeClr val="lt1"/>
                </a:solidFill>
              </a:rPr>
              <a:t>entraînement</a:t>
            </a:r>
            <a:r>
              <a:rPr b="1" lang="fr" sz="1000">
                <a:solidFill>
                  <a:schemeClr val="lt1"/>
                </a:solidFill>
              </a:rPr>
              <a:t> du modèle.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Surveillance continue du modèle via Evidently permettant : la détection du data drift, génération de rapports de drift.</a:t>
            </a:r>
            <a:br>
              <a:rPr b="1" lang="fr" sz="1000">
                <a:solidFill>
                  <a:schemeClr val="lt1"/>
                </a:solidFill>
              </a:rPr>
            </a:b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DAG de réentraînement : Airflow → Jenkins → réentraînement → enregistrement d’un nouveau modèle champion.</a:t>
            </a:r>
            <a:br>
              <a:rPr b="1" lang="fr" sz="1000">
                <a:solidFill>
                  <a:schemeClr val="lt1"/>
                </a:solidFill>
              </a:rPr>
            </a:b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Architecture complète, modulaire et industrialisable, combinant : APIs (récupération des transcations + prédiction), NeonDB pour le stockage applicatif, S3 pour la baseline &amp; les rapports, Dashboard Streamlit pour l’usage métier.</a:t>
            </a:r>
            <a:br>
              <a:rPr b="1" lang="fr" sz="1000">
                <a:solidFill>
                  <a:schemeClr val="lt1"/>
                </a:solidFill>
              </a:rPr>
            </a:b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lt1"/>
                </a:solidFill>
              </a:rPr>
              <a:t>Un système ML opérationnel, supervisé, capable de s’adapter automatiquement à l’évolution des comportements frauduleux.</a:t>
            </a:r>
            <a:endParaRPr b="1" sz="1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900" cy="3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idx="4294967295" type="ctrTitle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" sz="5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Merci! </a:t>
            </a:r>
            <a:endParaRPr b="1" i="0" sz="56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>
            <p:ph idx="4294967295" type="ctrTitle"/>
          </p:nvPr>
        </p:nvSpPr>
        <p:spPr>
          <a:xfrm>
            <a:off x="1274779" y="2606050"/>
            <a:ext cx="70362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2400" u="none" cap="none" strike="noStrike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A bientôt pour de nouvelles aventures…</a:t>
            </a:r>
            <a:endParaRPr b="0" i="0" sz="2400" u="none" cap="none" strike="noStrike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