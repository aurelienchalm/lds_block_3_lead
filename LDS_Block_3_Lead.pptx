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</p:sldIdLst>
  <p:sldSz cy="5143500" cx="9144000"/>
  <p:notesSz cx="6858000" cy="9144000"/>
  <p:embeddedFontLst>
    <p:embeddedFont>
      <p:font typeface="Inter"/>
      <p:regular r:id="rId25"/>
      <p:bold r:id="rId26"/>
      <p:italic r:id="rId27"/>
      <p:boldItalic r:id="rId28"/>
    </p:embeddedFont>
    <p:embeddedFont>
      <p:font typeface="Inter Medium"/>
      <p:regular r:id="rId29"/>
      <p:bold r:id="rId30"/>
      <p:italic r:id="rId31"/>
      <p:boldItalic r:id="rId3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33" roundtripDataSignature="AMtx7mgusiSgqBa9PbuG3GODqATFexxIb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font" Target="fonts/Inter-bold.fntdata"/><Relationship Id="rId25" Type="http://schemas.openxmlformats.org/officeDocument/2006/relationships/font" Target="fonts/Inter-regular.fntdata"/><Relationship Id="rId28" Type="http://schemas.openxmlformats.org/officeDocument/2006/relationships/font" Target="fonts/Inter-boldItalic.fntdata"/><Relationship Id="rId27" Type="http://schemas.openxmlformats.org/officeDocument/2006/relationships/font" Target="fonts/Inter-italic.fnt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font" Target="fonts/InterMedium-regular.fntdata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31" Type="http://schemas.openxmlformats.org/officeDocument/2006/relationships/font" Target="fonts/InterMedium-italic.fntdata"/><Relationship Id="rId30" Type="http://schemas.openxmlformats.org/officeDocument/2006/relationships/font" Target="fonts/InterMedium-bold.fntdata"/><Relationship Id="rId11" Type="http://schemas.openxmlformats.org/officeDocument/2006/relationships/slide" Target="slides/slide7.xml"/><Relationship Id="rId33" Type="http://customschemas.google.com/relationships/presentationmetadata" Target="metadata"/><Relationship Id="rId10" Type="http://schemas.openxmlformats.org/officeDocument/2006/relationships/slide" Target="slides/slide6.xml"/><Relationship Id="rId32" Type="http://schemas.openxmlformats.org/officeDocument/2006/relationships/font" Target="fonts/InterMedium-boldItalic.fntdata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" name="Google Shape;6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a1eef71857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" name="Google Shape;66;g3a1eef71857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9e33c6017c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g39e33c6017c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9e33c6017c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9" name="Google Shape;79;g39e33c6017c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a1eef71857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6" name="Google Shape;86;g3a1eef71857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a56c05effe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3" name="Google Shape;93;g3a56c05effe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9103f67953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0" name="Google Shape;100;g39103f67953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9103f67953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7" name="Google Shape;107;g39103f67953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9e33c6017c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4" name="Google Shape;114;g39e33c6017c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9e33c6017c_0_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0" name="Google Shape;120;g39e33c6017c_0_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a1eef71857_0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7" name="Google Shape;127;g3a1eef71857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9103f67953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" name="Google Shape;134;g39103f67953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a1eef71857_0_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1" name="Google Shape;141;g3a1eef71857_0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a1eef71857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7" name="Google Shape;147;g3a1eef71857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a1fa3a7511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4" name="Google Shape;154;g3a1fa3a7511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a1fa3a7511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1" name="Google Shape;161;g3a1fa3a7511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a1fa3a7511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7" name="Google Shape;167;g3a1fa3a7511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5" name="Google Shape;175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" name="Google Shape;181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1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6" name="Google Shape;16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1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12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12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4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14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5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6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6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16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16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7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8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8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Relationship Id="rId4" Type="http://schemas.openxmlformats.org/officeDocument/2006/relationships/hyperlink" Target="http://drive.google.com/file/d/1Dn234kk8WcBfuWcgSyHRi4yhzPbx60vM/view" TargetMode="External"/><Relationship Id="rId5" Type="http://schemas.openxmlformats.org/officeDocument/2006/relationships/image" Target="../media/image2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3FDAD2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"/>
          <p:cNvSpPr txBox="1"/>
          <p:nvPr>
            <p:ph type="ctrTitle"/>
          </p:nvPr>
        </p:nvSpPr>
        <p:spPr>
          <a:xfrm>
            <a:off x="107800" y="1710025"/>
            <a:ext cx="8928300" cy="617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fr" sz="3700">
                <a:solidFill>
                  <a:srgbClr val="0E3449"/>
                </a:solidFill>
              </a:rPr>
              <a:t>Automatic Fraud Detection</a:t>
            </a:r>
            <a:r>
              <a:rPr lang="fr" sz="3700">
                <a:solidFill>
                  <a:srgbClr val="0E3449"/>
                </a:solidFill>
              </a:rPr>
              <a:t> (AIA block 3)</a:t>
            </a:r>
            <a:endParaRPr sz="3700">
              <a:solidFill>
                <a:srgbClr val="0E3449"/>
              </a:solidFill>
            </a:endParaRPr>
          </a:p>
        </p:txBody>
      </p:sp>
      <p:pic>
        <p:nvPicPr>
          <p:cNvPr id="55" name="Google Shape;55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5550" y="2595750"/>
            <a:ext cx="3818450" cy="2547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40550" y="787375"/>
            <a:ext cx="973275" cy="65105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"/>
          <p:cNvSpPr txBox="1"/>
          <p:nvPr>
            <p:ph type="ctrTitle"/>
          </p:nvPr>
        </p:nvSpPr>
        <p:spPr>
          <a:xfrm>
            <a:off x="0" y="3643262"/>
            <a:ext cx="5315100" cy="1252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</a:pPr>
            <a:r>
              <a:rPr lang="fr" sz="700"/>
              <a:t>Aurélien Chalm</a:t>
            </a:r>
            <a:endParaRPr sz="7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</a:pPr>
            <a:r>
              <a:rPr lang="fr" sz="900"/>
              <a:t>GitHub : https://github.com/aurelienchalm/LDS_block_3_lead</a:t>
            </a:r>
            <a:endParaRPr sz="25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8F4FF"/>
        </a:solidFill>
      </p:bgPr>
    </p:bg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"/>
          <p:cNvSpPr txBox="1"/>
          <p:nvPr>
            <p:ph idx="4294967295" type="ctrTitle"/>
          </p:nvPr>
        </p:nvSpPr>
        <p:spPr>
          <a:xfrm>
            <a:off x="1085800" y="1699000"/>
            <a:ext cx="8521500" cy="139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fr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</a:t>
            </a:r>
            <a:r>
              <a:rPr b="1" lang="fr" sz="2400"/>
              <a:t>ntexte &amp; besoin métier</a:t>
            </a:r>
            <a:endParaRPr b="1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1" i="0" sz="4500" u="none" cap="none" strike="noStrike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3" name="Google Shape;6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a1eef71857_0_6"/>
          <p:cNvSpPr txBox="1"/>
          <p:nvPr>
            <p:ph idx="4294967295" type="ctrTitle"/>
          </p:nvPr>
        </p:nvSpPr>
        <p:spPr>
          <a:xfrm>
            <a:off x="1192678" y="0"/>
            <a:ext cx="68466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800"/>
              <a:t>Contexte &amp; besoin métier</a:t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br>
              <a:rPr b="0" i="1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1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g3a1eef71857_0_6"/>
          <p:cNvSpPr txBox="1"/>
          <p:nvPr>
            <p:ph idx="4294967295" type="ctrTitle"/>
          </p:nvPr>
        </p:nvSpPr>
        <p:spPr>
          <a:xfrm>
            <a:off x="0" y="385900"/>
            <a:ext cx="9144000" cy="475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300"/>
              <a:t>Un enjeu majeur</a:t>
            </a:r>
            <a:endParaRPr b="1" sz="1300"/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lang="fr" sz="1100"/>
              <a:t>La fraude aux cartes bancaires dépasse </a:t>
            </a:r>
            <a:r>
              <a:rPr b="1" lang="fr" sz="1100"/>
              <a:t>1 milliard d’euros/an en Europe</a:t>
            </a:r>
            <a:br>
              <a:rPr b="1" lang="fr" sz="1100"/>
            </a:br>
            <a:endParaRPr b="1"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fr" sz="1100"/>
              <a:t>Les équipes paiement doivent réagir </a:t>
            </a:r>
            <a:r>
              <a:rPr b="1" lang="fr" sz="1100"/>
              <a:t>en temps réel</a:t>
            </a:r>
            <a:r>
              <a:rPr lang="fr" sz="1100"/>
              <a:t> pour limiter les pertes</a:t>
            </a:r>
            <a:br>
              <a:rPr lang="fr" sz="1100"/>
            </a:b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300"/>
              <a:t>Les besoins identifiés</a:t>
            </a:r>
            <a:endParaRPr b="1" sz="1300"/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b="1" lang="fr" sz="1100"/>
              <a:t>Détecter instantanément</a:t>
            </a:r>
            <a:r>
              <a:rPr lang="fr" sz="1100"/>
              <a:t> les transactions frauduleuses</a:t>
            </a:r>
            <a:br>
              <a:rPr lang="fr" sz="1100"/>
            </a:b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b="1" lang="fr" sz="1100"/>
              <a:t>Alerter automatiquement</a:t>
            </a:r>
            <a:r>
              <a:rPr lang="fr" sz="1100"/>
              <a:t> les équipes en cas de suspicion</a:t>
            </a:r>
            <a:br>
              <a:rPr lang="fr" sz="1100"/>
            </a:b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b="1" lang="fr" sz="1100"/>
              <a:t>Visualiser les transactions</a:t>
            </a:r>
            <a:r>
              <a:rPr lang="fr" sz="1100"/>
              <a:t> via :</a:t>
            </a:r>
            <a:br>
              <a:rPr lang="fr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un rapport quotidien</a:t>
            </a:r>
            <a:br>
              <a:rPr lang="fr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un dashboard de suivi</a:t>
            </a:r>
            <a:br>
              <a:rPr lang="fr" sz="1100"/>
            </a:b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b="1" lang="fr" sz="1100"/>
              <a:t>Maintenir la performance du modèle</a:t>
            </a:r>
            <a:r>
              <a:rPr lang="fr" sz="1100"/>
              <a:t> :</a:t>
            </a:r>
            <a:br>
              <a:rPr lang="fr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Surveiller le </a:t>
            </a:r>
            <a:r>
              <a:rPr b="1" lang="fr" sz="1100"/>
              <a:t>data drift</a:t>
            </a:r>
            <a:br>
              <a:rPr b="1" lang="fr" sz="1100"/>
            </a:br>
            <a:endParaRPr b="1"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b="1" lang="fr" sz="1100"/>
              <a:t>Ré-entraîner automatiquement</a:t>
            </a:r>
            <a:r>
              <a:rPr lang="fr" sz="1100"/>
              <a:t> le modèle dès que nécessaire</a:t>
            </a:r>
            <a:br>
              <a:rPr lang="fr" sz="1100"/>
            </a:br>
            <a:endParaRPr sz="1100"/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1300"/>
          </a:p>
        </p:txBody>
      </p:sp>
      <p:pic>
        <p:nvPicPr>
          <p:cNvPr id="70" name="Google Shape;70;g3a1eef71857_0_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8F4FF"/>
        </a:solidFill>
      </p:bgPr>
    </p:bg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9e33c6017c_0_38"/>
          <p:cNvSpPr txBox="1"/>
          <p:nvPr>
            <p:ph idx="4294967295" type="ctrTitle"/>
          </p:nvPr>
        </p:nvSpPr>
        <p:spPr>
          <a:xfrm>
            <a:off x="1078900" y="1673275"/>
            <a:ext cx="7115700" cy="139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b="1" lang="fr" sz="2400"/>
              <a:t>Architecture de </a:t>
            </a:r>
            <a:r>
              <a:rPr b="1" lang="fr" sz="2400"/>
              <a:t>détection</a:t>
            </a:r>
            <a:r>
              <a:rPr b="1" lang="fr" sz="2400"/>
              <a:t> de fraude</a:t>
            </a:r>
            <a:endParaRPr b="1" i="0" sz="4500" u="none" cap="none" strike="noStrike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76" name="Google Shape;76;g39e33c6017c_0_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9e33c6017c_0_43"/>
          <p:cNvSpPr txBox="1"/>
          <p:nvPr>
            <p:ph idx="4294967295" type="ctrTitle"/>
          </p:nvPr>
        </p:nvSpPr>
        <p:spPr>
          <a:xfrm>
            <a:off x="1192678" y="0"/>
            <a:ext cx="68466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700"/>
              <a:t>Entraînement initial</a:t>
            </a:r>
            <a:r>
              <a:rPr b="1" lang="fr" sz="1700"/>
              <a:t> du modèle (Notebook -&gt; MLflow)</a:t>
            </a:r>
            <a:endParaRPr b="1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br>
              <a:rPr b="0" i="1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1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br>
              <a:rPr b="0" i="1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1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2" name="Google Shape;82;g39e33c6017c_0_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2"/>
            <a:ext cx="576900" cy="385904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g39e33c6017c_0_4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71625" y="629100"/>
            <a:ext cx="6590689" cy="45143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a1eef71857_0_21"/>
          <p:cNvSpPr txBox="1"/>
          <p:nvPr>
            <p:ph idx="4294967295" type="ctrTitle"/>
          </p:nvPr>
        </p:nvSpPr>
        <p:spPr>
          <a:xfrm>
            <a:off x="1192678" y="0"/>
            <a:ext cx="68466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700"/>
              <a:t>Schéma d’architecture global en production</a:t>
            </a:r>
            <a:endParaRPr b="1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br>
              <a:rPr b="0" i="1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1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br>
              <a:rPr b="0" i="1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1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9" name="Google Shape;89;g3a1eef71857_0_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2"/>
            <a:ext cx="576900" cy="385904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g3a1eef71857_0_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5013" y="663550"/>
            <a:ext cx="8073973" cy="4305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a56c05effe_0_10"/>
          <p:cNvSpPr txBox="1"/>
          <p:nvPr>
            <p:ph idx="4294967295" type="ctrTitle"/>
          </p:nvPr>
        </p:nvSpPr>
        <p:spPr>
          <a:xfrm>
            <a:off x="1192678" y="0"/>
            <a:ext cx="68466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700"/>
              <a:t>A</a:t>
            </a:r>
            <a:r>
              <a:rPr b="1" lang="fr" sz="1700"/>
              <a:t>rchitecture de prédiction</a:t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br>
              <a:rPr b="0" i="1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1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g3a56c05effe_0_10"/>
          <p:cNvSpPr txBox="1"/>
          <p:nvPr>
            <p:ph idx="4294967295" type="ctrTitle"/>
          </p:nvPr>
        </p:nvSpPr>
        <p:spPr>
          <a:xfrm>
            <a:off x="0" y="385900"/>
            <a:ext cx="9144000" cy="475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fr" sz="1300"/>
              <a:t>🧪 Étape 1 – Développement du modèle de ML</a:t>
            </a:r>
            <a:endParaRPr b="1" sz="1300"/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lang="fr" sz="1100"/>
              <a:t>Entraînement d’un modèle de </a:t>
            </a:r>
            <a:r>
              <a:rPr b="1" lang="fr" sz="1100"/>
              <a:t>détection de fraude</a:t>
            </a:r>
            <a:r>
              <a:rPr lang="fr" sz="1100"/>
              <a:t> dans un </a:t>
            </a:r>
            <a:r>
              <a:rPr b="1" lang="fr" sz="1100"/>
              <a:t>notebook</a:t>
            </a:r>
            <a:r>
              <a:rPr lang="fr" sz="1100"/>
              <a:t> (features, tuning, évaluation).</a:t>
            </a:r>
            <a:br>
              <a:rPr lang="fr" sz="1100"/>
            </a:b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fr" sz="1100"/>
              <a:t>Le modèle le plus performant est </a:t>
            </a:r>
            <a:r>
              <a:rPr b="1" lang="fr" sz="1100"/>
              <a:t>enregistré dans MLflow</a:t>
            </a:r>
            <a:r>
              <a:rPr lang="fr" sz="1100"/>
              <a:t> et promu comme :</a:t>
            </a:r>
            <a:br>
              <a:rPr lang="fr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b="1" lang="fr" sz="1100"/>
              <a:t>Version de production</a:t>
            </a:r>
            <a:br>
              <a:rPr b="1" lang="fr" sz="1100"/>
            </a:br>
            <a:endParaRPr b="1"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Tagué </a:t>
            </a:r>
            <a:r>
              <a:rPr b="1" lang="fr" sz="1100"/>
              <a:t>champion=true</a:t>
            </a:r>
            <a:br>
              <a:rPr b="1" lang="fr" sz="1100"/>
            </a:br>
            <a:endParaRPr b="1"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fr" sz="1100"/>
              <a:t>Création d’une table </a:t>
            </a:r>
            <a:r>
              <a:rPr b="1" lang="fr" sz="1100"/>
              <a:t>fraud_training_dataset</a:t>
            </a:r>
            <a:r>
              <a:rPr lang="fr" sz="1100"/>
              <a:t> dans NeonDB :</a:t>
            </a:r>
            <a:br>
              <a:rPr lang="fr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Contient </a:t>
            </a:r>
            <a:r>
              <a:rPr b="1" lang="fr" sz="1100"/>
              <a:t>toute la donnée d’entraînement initiale</a:t>
            </a:r>
            <a:br>
              <a:rPr b="1" lang="fr" sz="1100"/>
            </a:br>
            <a:endParaRPr b="1"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Servira de </a:t>
            </a:r>
            <a:r>
              <a:rPr b="1" lang="fr" sz="1100"/>
              <a:t>base de </a:t>
            </a:r>
            <a:r>
              <a:rPr b="1" lang="fr" sz="1100"/>
              <a:t>réentrainement</a:t>
            </a:r>
            <a:r>
              <a:rPr lang="fr" sz="1100"/>
              <a:t> en cas de drift détecté.</a:t>
            </a:r>
            <a:br>
              <a:rPr lang="fr" sz="1100"/>
            </a:b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/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pic>
        <p:nvPicPr>
          <p:cNvPr id="97" name="Google Shape;97;g3a56c05effe_0_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9103f67953_0_5"/>
          <p:cNvSpPr txBox="1"/>
          <p:nvPr>
            <p:ph idx="4294967295" type="ctrTitle"/>
          </p:nvPr>
        </p:nvSpPr>
        <p:spPr>
          <a:xfrm>
            <a:off x="1192678" y="0"/>
            <a:ext cx="68466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700"/>
              <a:t>Architecture de prédiction</a:t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br>
              <a:rPr b="0" i="1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1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g39103f67953_0_5"/>
          <p:cNvSpPr txBox="1"/>
          <p:nvPr>
            <p:ph idx="4294967295" type="ctrTitle"/>
          </p:nvPr>
        </p:nvSpPr>
        <p:spPr>
          <a:xfrm>
            <a:off x="0" y="385900"/>
            <a:ext cx="9144000" cy="475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300"/>
              <a:t>⚙️ Étape 2 – Mise en production &amp; scoring temps réel</a:t>
            </a:r>
            <a:endParaRPr b="1" sz="1300"/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b="1" lang="fr" sz="1100"/>
              <a:t>Airflow</a:t>
            </a:r>
            <a:r>
              <a:rPr lang="fr" sz="1100"/>
              <a:t> orchestre un DAG fraud_realtime_predict :</a:t>
            </a:r>
            <a:br>
              <a:rPr lang="fr" sz="1100"/>
            </a:br>
            <a:br>
              <a:rPr lang="fr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Appel de l’</a:t>
            </a:r>
            <a:r>
              <a:rPr b="1" lang="fr" sz="1100"/>
              <a:t>API de prédiction</a:t>
            </a:r>
            <a:r>
              <a:rPr lang="fr" sz="1100"/>
              <a:t> qui :</a:t>
            </a:r>
            <a:br>
              <a:rPr lang="fr" sz="1100"/>
            </a:br>
            <a:endParaRPr sz="1100"/>
          </a:p>
          <a:p>
            <a:pPr indent="-298450" lvl="2" marL="137160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</a:pPr>
            <a:r>
              <a:rPr lang="fr" sz="1100"/>
              <a:t>Charge le modèle champion depuis MLflow</a:t>
            </a:r>
            <a:endParaRPr sz="1100"/>
          </a:p>
          <a:p>
            <a: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</a:pPr>
            <a:r>
              <a:rPr lang="fr" sz="1100"/>
              <a:t>Appel de l’API de paiements pour récupérer les transactions (via un appel sur le même réseau Docker)</a:t>
            </a:r>
            <a:br>
              <a:rPr lang="fr" sz="1100"/>
            </a:br>
            <a:endParaRPr b="1" sz="1100"/>
          </a:p>
          <a:p>
            <a:pPr indent="-298450" lvl="2" marL="13716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</a:pPr>
            <a:r>
              <a:rPr lang="fr" sz="1100"/>
              <a:t>Calcule la </a:t>
            </a:r>
            <a:r>
              <a:rPr b="1" lang="fr" sz="1100"/>
              <a:t>probabilité de fraude</a:t>
            </a:r>
            <a:br>
              <a:rPr b="1" lang="fr" sz="1100"/>
            </a:br>
            <a:endParaRPr b="1" sz="1100"/>
          </a:p>
          <a:p>
            <a:pPr indent="-29845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</a:pPr>
            <a:r>
              <a:rPr lang="fr" sz="1100"/>
              <a:t>Insère les résultats dans </a:t>
            </a:r>
            <a:r>
              <a:rPr b="1" lang="fr" sz="1100"/>
              <a:t>NeonDB → fraud_realtime_predictions</a:t>
            </a:r>
            <a:br>
              <a:rPr b="1" lang="fr" sz="1100"/>
            </a:br>
            <a:endParaRPr b="1"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fr" sz="1100"/>
              <a:t>Si une fraude est détectée :</a:t>
            </a:r>
            <a:br>
              <a:rPr lang="fr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Envoi d’un </a:t>
            </a:r>
            <a:r>
              <a:rPr b="1" lang="fr" sz="1100"/>
              <a:t>mail d’alerte automatique</a:t>
            </a:r>
            <a:r>
              <a:rPr lang="fr" sz="1100"/>
              <a:t> aux équipes métiers via l’API </a:t>
            </a:r>
            <a:r>
              <a:rPr b="1" lang="fr" sz="1100"/>
              <a:t>Resend</a:t>
            </a:r>
            <a:r>
              <a:rPr lang="fr" sz="1100"/>
              <a:t>.</a:t>
            </a:r>
            <a:br>
              <a:rPr lang="fr" sz="1100"/>
            </a:b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fr" sz="1100"/>
              <a:t>Les équipes métiers peuvent :</a:t>
            </a:r>
            <a:br>
              <a:rPr lang="fr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Consulter les transactions et fraudes via un </a:t>
            </a:r>
            <a:r>
              <a:rPr b="1" lang="fr" sz="1100"/>
              <a:t>dashboard Streamlit</a:t>
            </a:r>
            <a:r>
              <a:rPr lang="fr" sz="1100"/>
              <a:t>.</a:t>
            </a:r>
            <a:br>
              <a:rPr lang="fr" sz="1100"/>
            </a:b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 sz="1300"/>
          </a:p>
        </p:txBody>
      </p:sp>
      <p:pic>
        <p:nvPicPr>
          <p:cNvPr id="104" name="Google Shape;104;g39103f67953_0_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9103f67953_0_16"/>
          <p:cNvSpPr txBox="1"/>
          <p:nvPr>
            <p:ph idx="4294967295" type="ctrTitle"/>
          </p:nvPr>
        </p:nvSpPr>
        <p:spPr>
          <a:xfrm>
            <a:off x="1192678" y="0"/>
            <a:ext cx="68466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700"/>
              <a:t>Architecture de prédiction</a:t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br>
              <a:rPr b="0" i="1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1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g39103f67953_0_16"/>
          <p:cNvSpPr txBox="1"/>
          <p:nvPr>
            <p:ph idx="4294967295" type="ctrTitle"/>
          </p:nvPr>
        </p:nvSpPr>
        <p:spPr>
          <a:xfrm>
            <a:off x="0" y="385900"/>
            <a:ext cx="9144000" cy="475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fr" sz="1300"/>
              <a:t>📊 Reporting quotidien</a:t>
            </a:r>
            <a:endParaRPr b="1" sz="1300"/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lang="fr" sz="1100"/>
              <a:t>Un DAG </a:t>
            </a:r>
            <a:r>
              <a:rPr b="1" lang="fr" sz="1100"/>
              <a:t>daily_fraud_report</a:t>
            </a:r>
            <a:r>
              <a:rPr lang="fr" sz="1100"/>
              <a:t> (Airflow) s'exécute une fois par jour :</a:t>
            </a:r>
            <a:br>
              <a:rPr lang="fr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Sélection des transactions de la veille dans fraud_realtime_predictions</a:t>
            </a:r>
            <a:br>
              <a:rPr lang="fr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Génération d’un </a:t>
            </a:r>
            <a:r>
              <a:rPr b="1" lang="fr" sz="1100"/>
              <a:t>rapport synthétique</a:t>
            </a:r>
            <a:r>
              <a:rPr lang="fr" sz="1100"/>
              <a:t>, incluant la présence de fraudes</a:t>
            </a:r>
            <a:br>
              <a:rPr lang="fr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Envoi du rapport par email aux équipes métiers.</a:t>
            </a:r>
            <a:endParaRPr b="1" sz="1300"/>
          </a:p>
        </p:txBody>
      </p:sp>
      <p:pic>
        <p:nvPicPr>
          <p:cNvPr id="111" name="Google Shape;111;g39103f67953_0_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8F4FF"/>
        </a:solid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9e33c6017c_0_92"/>
          <p:cNvSpPr txBox="1"/>
          <p:nvPr>
            <p:ph idx="4294967295" type="ctrTitle"/>
          </p:nvPr>
        </p:nvSpPr>
        <p:spPr>
          <a:xfrm>
            <a:off x="404075" y="1666825"/>
            <a:ext cx="8553000" cy="7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2400"/>
              <a:t>Architecture de </a:t>
            </a:r>
            <a:r>
              <a:rPr b="1" lang="fr" sz="2400"/>
              <a:t>détection</a:t>
            </a:r>
            <a:r>
              <a:rPr b="1" lang="fr" sz="2400"/>
              <a:t> de drift de la donnée</a:t>
            </a:r>
            <a:endParaRPr b="1" i="0" sz="5500" u="none" cap="none" strike="noStrike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1" i="0" sz="4500" u="none" cap="none" strike="noStrike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17" name="Google Shape;117;g39e33c6017c_0_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9e33c6017c_0_85"/>
          <p:cNvSpPr txBox="1"/>
          <p:nvPr>
            <p:ph idx="4294967295" type="ctrTitle"/>
          </p:nvPr>
        </p:nvSpPr>
        <p:spPr>
          <a:xfrm>
            <a:off x="1192678" y="0"/>
            <a:ext cx="68466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fr" sz="1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Schema </a:t>
            </a:r>
            <a:r>
              <a:rPr b="1" lang="fr" sz="1700"/>
              <a:t>de detection de drift de la donnée</a:t>
            </a:r>
            <a:endParaRPr b="1" i="0" sz="2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br>
              <a:rPr b="0" i="1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1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br>
              <a:rPr b="0" i="1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1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3" name="Google Shape;123;g39e33c6017c_0_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2"/>
            <a:ext cx="576900" cy="3859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g39e33c6017c_0_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685500"/>
            <a:ext cx="8395920" cy="4305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a1eef71857_0_32"/>
          <p:cNvSpPr txBox="1"/>
          <p:nvPr>
            <p:ph idx="4294967295" type="ctrTitle"/>
          </p:nvPr>
        </p:nvSpPr>
        <p:spPr>
          <a:xfrm>
            <a:off x="1192678" y="0"/>
            <a:ext cx="68466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700"/>
              <a:t>Détection</a:t>
            </a:r>
            <a:r>
              <a:rPr b="1" lang="fr" sz="1700"/>
              <a:t> du drift de la donnée avec Evidently</a:t>
            </a:r>
            <a:endParaRPr b="1" i="0" sz="2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br>
              <a:rPr b="0" i="1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1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br>
              <a:rPr b="0" i="1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1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g3a1eef71857_0_32"/>
          <p:cNvSpPr txBox="1"/>
          <p:nvPr>
            <p:ph idx="4294967295" type="ctrTitle"/>
          </p:nvPr>
        </p:nvSpPr>
        <p:spPr>
          <a:xfrm>
            <a:off x="0" y="385900"/>
            <a:ext cx="9144000" cy="475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b="1" lang="fr" sz="1700"/>
              <a:t>🔍 Détection quotidienne du drift de la donnée</a:t>
            </a:r>
            <a:endParaRPr b="1" sz="1700"/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b="1" lang="fr" sz="1100"/>
              <a:t>Airflow exécute chaque jour</a:t>
            </a:r>
            <a:r>
              <a:rPr lang="fr" sz="1100"/>
              <a:t> le DAG fraud_drift_monitoring.</a:t>
            </a:r>
            <a:br>
              <a:rPr lang="fr" sz="1100"/>
            </a:b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fr" sz="1100"/>
              <a:t>Le DAG construit la </a:t>
            </a:r>
            <a:r>
              <a:rPr b="1" lang="fr" sz="1100"/>
              <a:t>baseline de référence</a:t>
            </a:r>
            <a:r>
              <a:rPr lang="fr" sz="1100"/>
              <a:t> :</a:t>
            </a:r>
            <a:br>
              <a:rPr lang="fr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Il récupère dans </a:t>
            </a:r>
            <a:r>
              <a:rPr b="1" lang="fr" sz="1100"/>
              <a:t>NeonDB (fraud_training_dataset)</a:t>
            </a:r>
            <a:br>
              <a:rPr b="1" lang="fr" sz="1100"/>
            </a:br>
            <a:br>
              <a:rPr b="1" lang="fr" sz="1100"/>
            </a:br>
            <a:r>
              <a:rPr lang="fr" sz="1100"/>
              <a:t> → la donnée d’entraînement historique</a:t>
            </a:r>
            <a:br>
              <a:rPr lang="fr" sz="1100"/>
            </a:br>
            <a:br>
              <a:rPr lang="fr" sz="1100"/>
            </a:br>
            <a:r>
              <a:rPr lang="fr" sz="1100"/>
              <a:t> → + la donnée ajoutée quotidiennement (predictions J–1 pour avoir la journée complète)</a:t>
            </a:r>
            <a:br>
              <a:rPr lang="fr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Il génère un CSV baseline et l’enregistre dans </a:t>
            </a:r>
            <a:r>
              <a:rPr b="1" lang="fr" sz="1100"/>
              <a:t>S3</a:t>
            </a:r>
            <a:r>
              <a:rPr lang="fr" sz="1100"/>
              <a:t>.</a:t>
            </a:r>
            <a:br>
              <a:rPr lang="fr" sz="1100"/>
            </a:b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b="1" lang="fr" sz="1100"/>
              <a:t>Evidently</a:t>
            </a:r>
            <a:r>
              <a:rPr lang="fr" sz="1100"/>
              <a:t> compare :</a:t>
            </a:r>
            <a:br>
              <a:rPr lang="fr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la baseline stockée dans S3</a:t>
            </a:r>
            <a:br>
              <a:rPr lang="fr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avec les </a:t>
            </a:r>
            <a:r>
              <a:rPr b="1" lang="fr" sz="1100"/>
              <a:t>transactions prédites de la veille</a:t>
            </a:r>
            <a:r>
              <a:rPr lang="fr" sz="1100"/>
              <a:t> (fraud_realtime_predictions)</a:t>
            </a:r>
            <a:br>
              <a:rPr lang="fr" sz="1100"/>
            </a:br>
            <a:endParaRPr sz="1100"/>
          </a:p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t/>
            </a:r>
            <a:endParaRPr b="1" sz="1000"/>
          </a:p>
        </p:txBody>
      </p:sp>
      <p:pic>
        <p:nvPicPr>
          <p:cNvPr id="131" name="Google Shape;131;g3a1eef71857_0_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9103f67953_0_23"/>
          <p:cNvSpPr txBox="1"/>
          <p:nvPr>
            <p:ph idx="4294967295" type="ctrTitle"/>
          </p:nvPr>
        </p:nvSpPr>
        <p:spPr>
          <a:xfrm>
            <a:off x="1192678" y="0"/>
            <a:ext cx="68466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700"/>
              <a:t>Détection du drift de la donnée avec Evidently</a:t>
            </a:r>
            <a:endParaRPr b="1" i="0" sz="2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br>
              <a:rPr b="0" i="1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1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br>
              <a:rPr b="0" i="1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1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g39103f67953_0_23"/>
          <p:cNvSpPr txBox="1"/>
          <p:nvPr>
            <p:ph idx="4294967295" type="ctrTitle"/>
          </p:nvPr>
        </p:nvSpPr>
        <p:spPr>
          <a:xfrm>
            <a:off x="0" y="385900"/>
            <a:ext cx="9144000" cy="475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lang="fr" sz="1100"/>
              <a:t>Si dérive détectée :</a:t>
            </a:r>
            <a:br>
              <a:rPr lang="fr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Envoi automatique d’un </a:t>
            </a:r>
            <a:r>
              <a:rPr b="1" lang="fr" sz="1100"/>
              <a:t>email d’alerte</a:t>
            </a:r>
            <a:r>
              <a:rPr lang="fr" sz="1100"/>
              <a:t> (via Resend)</a:t>
            </a:r>
            <a:br>
              <a:rPr lang="fr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L’email contient le </a:t>
            </a:r>
            <a:r>
              <a:rPr b="1" lang="fr" sz="1100"/>
              <a:t>lien direct vers le rapport Evidently</a:t>
            </a:r>
            <a:r>
              <a:rPr lang="fr" sz="1100"/>
              <a:t> (HTML + JSON sur S3)</a:t>
            </a:r>
            <a:br>
              <a:rPr lang="fr" sz="1100"/>
            </a:b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b="1" lang="fr" sz="1100"/>
              <a:t>Validation métier avant ré-entraînement :</a:t>
            </a:r>
            <a:br>
              <a:rPr b="1" lang="fr" sz="1100"/>
            </a:br>
            <a:endParaRPr b="1"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En cas de drift, l’équipe data analyse le rapport de drift d’Evidently</a:t>
            </a:r>
            <a:br>
              <a:rPr lang="fr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Elle demande aux équipes métiers de leur valider la colonne </a:t>
            </a:r>
            <a:r>
              <a:rPr b="1" lang="fr" sz="1100"/>
              <a:t>is_fraud </a:t>
            </a:r>
            <a:r>
              <a:rPr lang="fr" sz="1100"/>
              <a:t>prédite sur la donnée qui a driftée (sous forme d’un csv)</a:t>
            </a:r>
            <a:br>
              <a:rPr lang="fr" sz="1100"/>
            </a:br>
            <a:br>
              <a:rPr lang="fr" sz="1100"/>
            </a:br>
            <a:r>
              <a:rPr lang="fr" sz="1100"/>
              <a:t> (pour éviter de réentraîner le modèle sur ses propres erreurs)</a:t>
            </a:r>
            <a:br>
              <a:rPr lang="fr" sz="1100"/>
            </a:b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b="1" lang="fr" sz="1100"/>
              <a:t>Boucle d’enrichissement continue :</a:t>
            </a:r>
            <a:br>
              <a:rPr b="1" lang="fr" sz="1100"/>
            </a:br>
            <a:endParaRPr b="1"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Une fois le csv validé par les équipes métiers il est déposé sur le S3 pour permettre le </a:t>
            </a:r>
            <a:r>
              <a:rPr lang="fr" sz="1100"/>
              <a:t>réentraînement</a:t>
            </a:r>
            <a:r>
              <a:rPr lang="fr" sz="1100"/>
              <a:t> du modèle.</a:t>
            </a:r>
            <a:br>
              <a:rPr lang="fr" sz="1100"/>
            </a:br>
            <a:br>
              <a:rPr lang="fr" sz="1100"/>
            </a:br>
            <a:endParaRPr sz="1100"/>
          </a:p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t/>
            </a:r>
            <a:endParaRPr b="1" sz="1100"/>
          </a:p>
        </p:txBody>
      </p:sp>
      <p:pic>
        <p:nvPicPr>
          <p:cNvPr id="138" name="Google Shape;138;g39103f67953_0_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8F4FF"/>
        </a:solid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a1eef71857_0_39"/>
          <p:cNvSpPr txBox="1"/>
          <p:nvPr>
            <p:ph idx="4294967295" type="ctrTitle"/>
          </p:nvPr>
        </p:nvSpPr>
        <p:spPr>
          <a:xfrm>
            <a:off x="404075" y="1666825"/>
            <a:ext cx="8553000" cy="7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2400"/>
              <a:t>Ré</a:t>
            </a:r>
            <a:r>
              <a:rPr b="1" lang="fr" sz="2400"/>
              <a:t>entraînement</a:t>
            </a:r>
            <a:r>
              <a:rPr b="1" lang="fr" sz="2400"/>
              <a:t> du modèle en cas de drift détecté</a:t>
            </a:r>
            <a:endParaRPr b="1" i="0" sz="5500" u="none" cap="none" strike="noStrike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1" i="0" sz="4500" u="none" cap="none" strike="noStrike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44" name="Google Shape;144;g3a1eef71857_0_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a1eef71857_0_45"/>
          <p:cNvSpPr txBox="1"/>
          <p:nvPr>
            <p:ph idx="4294967295" type="ctrTitle"/>
          </p:nvPr>
        </p:nvSpPr>
        <p:spPr>
          <a:xfrm>
            <a:off x="1192678" y="0"/>
            <a:ext cx="68466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700"/>
              <a:t>Schéma du ré-</a:t>
            </a:r>
            <a:r>
              <a:rPr b="1" lang="fr" sz="1700"/>
              <a:t>entraînement</a:t>
            </a:r>
            <a:r>
              <a:rPr b="1" lang="fr" sz="1700"/>
              <a:t> du modèle</a:t>
            </a:r>
            <a:endParaRPr b="1" i="0" sz="2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br>
              <a:rPr b="0" i="1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1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br>
              <a:rPr b="0" i="1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1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0" name="Google Shape;150;g3a1eef71857_0_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2"/>
            <a:ext cx="576900" cy="3859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51" name="Google Shape;151;g3a1eef71857_0_4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685500"/>
            <a:ext cx="8575980" cy="4305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a1fa3a7511_0_11"/>
          <p:cNvSpPr txBox="1"/>
          <p:nvPr>
            <p:ph idx="4294967295" type="ctrTitle"/>
          </p:nvPr>
        </p:nvSpPr>
        <p:spPr>
          <a:xfrm>
            <a:off x="1192678" y="0"/>
            <a:ext cx="68466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700"/>
              <a:t>Ré-</a:t>
            </a:r>
            <a:r>
              <a:rPr b="1" lang="fr" sz="1700"/>
              <a:t>entraînement</a:t>
            </a:r>
            <a:r>
              <a:rPr b="1" lang="fr" sz="1700"/>
              <a:t> du modèle</a:t>
            </a:r>
            <a:endParaRPr b="1" i="0" sz="2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br>
              <a:rPr b="0" i="1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1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br>
              <a:rPr b="0" i="1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1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g3a1fa3a7511_0_11"/>
          <p:cNvSpPr txBox="1"/>
          <p:nvPr>
            <p:ph idx="4294967295" type="ctrTitle"/>
          </p:nvPr>
        </p:nvSpPr>
        <p:spPr>
          <a:xfrm>
            <a:off x="0" y="385900"/>
            <a:ext cx="9144000" cy="475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t/>
            </a:r>
            <a:endParaRPr b="1" sz="1400"/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lang="fr" sz="1100"/>
              <a:t>Objectif : garantir des </a:t>
            </a:r>
            <a:r>
              <a:rPr b="1" lang="fr" sz="1100"/>
              <a:t>prédictions fiables dans le temps</a:t>
            </a:r>
            <a:r>
              <a:rPr lang="fr" sz="1100"/>
              <a:t>, même si la donnée évolue.</a:t>
            </a:r>
            <a:br>
              <a:rPr lang="fr" sz="1100"/>
            </a:b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fr" sz="1100"/>
              <a:t>Lorsque l’équipe décide de réentraîner le modèle (suite à un drift validé),</a:t>
            </a:r>
            <a:br>
              <a:rPr lang="fr" sz="1100"/>
            </a:br>
            <a:br>
              <a:rPr lang="fr" sz="1100"/>
            </a:br>
            <a:r>
              <a:rPr lang="fr" sz="1100"/>
              <a:t> </a:t>
            </a:r>
            <a:r>
              <a:rPr b="1" lang="fr" sz="1100"/>
              <a:t>Airflow déclenche un pipeline Jenkins</a:t>
            </a:r>
            <a:r>
              <a:rPr lang="fr" sz="1100"/>
              <a:t> via le DAG trigger_jenkins_fraud_retrain.</a:t>
            </a:r>
            <a:br>
              <a:rPr lang="fr" sz="1100"/>
            </a:b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fr" sz="1100"/>
              <a:t>Jenkins exécute le pipeline CI/CD :</a:t>
            </a:r>
            <a:br>
              <a:rPr lang="fr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Récupération du code source sur </a:t>
            </a:r>
            <a:r>
              <a:rPr b="1" lang="fr" sz="1100"/>
              <a:t>GitHub</a:t>
            </a:r>
            <a:br>
              <a:rPr b="1" lang="fr" sz="1100"/>
            </a:br>
            <a:endParaRPr b="1"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Construction de l’image de test → exécution des </a:t>
            </a:r>
            <a:r>
              <a:rPr b="1" lang="fr" sz="1100"/>
              <a:t>tests PyTest</a:t>
            </a:r>
            <a:br>
              <a:rPr b="1" lang="fr" sz="1100"/>
            </a:br>
            <a:endParaRPr b="1"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Si tout est valide → exécution du script Python de réentraînement (avec récupération de la donnée </a:t>
            </a:r>
            <a:r>
              <a:rPr lang="fr" sz="1100"/>
              <a:t>d'entraînement</a:t>
            </a:r>
            <a:r>
              <a:rPr lang="fr" sz="1100"/>
              <a:t> validée par le métier -&gt; nouvelle données insérée dans la table d’entrainement)</a:t>
            </a:r>
            <a:br>
              <a:rPr lang="fr" sz="1100"/>
            </a:b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fr" sz="1100"/>
              <a:t>Le script entraîne un nouveau modèle XGBoost, le loggue dans </a:t>
            </a:r>
            <a:r>
              <a:rPr b="1" lang="fr" sz="1100"/>
              <a:t>MLflow</a:t>
            </a:r>
            <a:r>
              <a:rPr lang="fr" sz="1100"/>
              <a:t>,</a:t>
            </a:r>
            <a:br>
              <a:rPr lang="fr" sz="1100"/>
            </a:br>
            <a:br>
              <a:rPr lang="fr" sz="1100"/>
            </a:br>
            <a:r>
              <a:rPr lang="fr" sz="1100"/>
              <a:t> puis le </a:t>
            </a:r>
            <a:r>
              <a:rPr b="1" lang="fr" sz="1100"/>
              <a:t>tague “champion”</a:t>
            </a:r>
            <a:r>
              <a:rPr lang="fr" sz="1100"/>
              <a:t>, ce qui remplace la version actuellement en production.</a:t>
            </a:r>
            <a:br>
              <a:rPr lang="fr" sz="1100"/>
            </a:b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fr" sz="1100"/>
              <a:t>L’API de prédiction interroge en continu </a:t>
            </a:r>
            <a:r>
              <a:rPr b="1" lang="fr" sz="1100"/>
              <a:t>le modèle “champion”</a:t>
            </a:r>
            <a:r>
              <a:rPr lang="fr" sz="1100"/>
              <a:t> sur MLflow :</a:t>
            </a:r>
            <a:br>
              <a:rPr lang="fr" sz="1100"/>
            </a:br>
            <a:br>
              <a:rPr lang="fr" sz="1100"/>
            </a:br>
            <a:r>
              <a:rPr lang="fr" sz="1100"/>
              <a:t> → la nouvelle version est immédiatement opérationnelle,	→ sans interruption de service.</a:t>
            </a:r>
            <a:br>
              <a:rPr lang="fr" sz="1100"/>
            </a:br>
            <a:endParaRPr sz="1100"/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900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b="0" i="0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br>
              <a:rPr b="0" i="0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br>
              <a:rPr b="0" i="0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pic>
        <p:nvPicPr>
          <p:cNvPr id="158" name="Google Shape;158;g3a1fa3a7511_0_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8F4FF"/>
        </a:solidFill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a1fa3a7511_0_18"/>
          <p:cNvSpPr txBox="1"/>
          <p:nvPr>
            <p:ph idx="4294967295" type="ctrTitle"/>
          </p:nvPr>
        </p:nvSpPr>
        <p:spPr>
          <a:xfrm>
            <a:off x="404075" y="1666825"/>
            <a:ext cx="8553000" cy="7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2400"/>
              <a:t>Video de l’a</a:t>
            </a:r>
            <a:r>
              <a:rPr b="1" i="0" lang="fr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rchitecture</a:t>
            </a:r>
            <a:endParaRPr b="1" i="0" sz="5500" u="none" cap="none" strike="noStrike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1" i="0" sz="4500" u="none" cap="none" strike="noStrike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64" name="Google Shape;164;g3a1fa3a7511_0_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a1fa3a7511_0_52"/>
          <p:cNvSpPr txBox="1"/>
          <p:nvPr>
            <p:ph idx="4294967295" type="ctrTitle"/>
          </p:nvPr>
        </p:nvSpPr>
        <p:spPr>
          <a:xfrm>
            <a:off x="1192678" y="0"/>
            <a:ext cx="68466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700"/>
              <a:t>Vidéo de l’a</a:t>
            </a:r>
            <a:r>
              <a:rPr b="1" i="0" lang="fr" sz="1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rchitecture</a:t>
            </a:r>
            <a:endParaRPr b="1" i="0" sz="2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br>
              <a:rPr b="0" i="1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1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br>
              <a:rPr b="0" i="1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1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g3a1fa3a7511_0_52"/>
          <p:cNvSpPr txBox="1"/>
          <p:nvPr>
            <p:ph idx="4294967295" type="ctrTitle"/>
          </p:nvPr>
        </p:nvSpPr>
        <p:spPr>
          <a:xfrm>
            <a:off x="0" y="385900"/>
            <a:ext cx="9144000" cy="475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br>
              <a:rPr b="0" i="0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br>
              <a:rPr b="0" i="0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pic>
        <p:nvPicPr>
          <p:cNvPr id="171" name="Google Shape;171;g3a1fa3a7511_0_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2"/>
            <a:ext cx="576900" cy="3859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g3a1fa3a7511_0_52" title="demo_auto_fraud.mov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286000" y="857250"/>
            <a:ext cx="4572000" cy="3429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45774"/>
        </a:solidFill>
      </p:bgPr>
    </p:bg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6"/>
          <p:cNvSpPr txBox="1"/>
          <p:nvPr>
            <p:ph idx="4294967295" type="ctrTitle"/>
          </p:nvPr>
        </p:nvSpPr>
        <p:spPr>
          <a:xfrm>
            <a:off x="0" y="392775"/>
            <a:ext cx="8160600" cy="469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000">
                <a:solidFill>
                  <a:schemeClr val="lt1"/>
                </a:solidFill>
              </a:rPr>
              <a:t>Conclusion – Un pipeline complet de détection &amp; monitoring de fraude</a:t>
            </a:r>
            <a:endParaRPr b="1" sz="10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000">
                <a:solidFill>
                  <a:schemeClr val="lt1"/>
                </a:solidFill>
              </a:rPr>
              <a:t>Détection en temps réel grâce à une API FastAPI, alimentée par un modèle ML hébergé et versionné dans MLflow (champion tagging).</a:t>
            </a:r>
            <a:endParaRPr b="1" sz="10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000">
                <a:solidFill>
                  <a:schemeClr val="lt1"/>
                </a:solidFill>
              </a:rPr>
              <a:t>Orchestration avec Airflow, pilotant : les prédictions quotidiennes, l’envoi d’alertes métiers, la génération automatique des rapports, le ré-</a:t>
            </a:r>
            <a:r>
              <a:rPr b="1" lang="fr" sz="1000">
                <a:solidFill>
                  <a:schemeClr val="lt1"/>
                </a:solidFill>
              </a:rPr>
              <a:t>entraînement</a:t>
            </a:r>
            <a:r>
              <a:rPr b="1" lang="fr" sz="1000">
                <a:solidFill>
                  <a:schemeClr val="lt1"/>
                </a:solidFill>
              </a:rPr>
              <a:t> du modèle.</a:t>
            </a:r>
            <a:endParaRPr b="1" sz="10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000">
                <a:solidFill>
                  <a:schemeClr val="lt1"/>
                </a:solidFill>
              </a:rPr>
              <a:t>Surveillance continue du modèle via Evidently, permettant : la détection du data drift, l’envoi d’alertes.</a:t>
            </a:r>
            <a:br>
              <a:rPr b="1" lang="fr" sz="1000">
                <a:solidFill>
                  <a:schemeClr val="lt1"/>
                </a:solidFill>
              </a:rPr>
            </a:br>
            <a:endParaRPr b="1" sz="10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000">
                <a:solidFill>
                  <a:schemeClr val="lt1"/>
                </a:solidFill>
              </a:rPr>
              <a:t>DAG de ré-entraînement : Airflow → Jenkins → ré-entraînement → déploiement d’un nouveau modèle champion.</a:t>
            </a:r>
            <a:br>
              <a:rPr b="1" lang="fr" sz="1000">
                <a:solidFill>
                  <a:schemeClr val="lt1"/>
                </a:solidFill>
              </a:rPr>
            </a:br>
            <a:endParaRPr b="1" sz="10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000">
                <a:solidFill>
                  <a:schemeClr val="lt1"/>
                </a:solidFill>
              </a:rPr>
              <a:t>Architecture complète, modulaire et industrialisable, combinant : APIs (paiements + prédiction), NeonDB pour le stockage applicatif, S3 pour la baseline &amp; les rapports, Dashboard Streamlit pour l’usage métier.</a:t>
            </a:r>
            <a:br>
              <a:rPr b="1" lang="fr" sz="1000">
                <a:solidFill>
                  <a:schemeClr val="lt1"/>
                </a:solidFill>
              </a:rPr>
            </a:br>
            <a:endParaRPr b="1" sz="10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000">
                <a:solidFill>
                  <a:schemeClr val="lt1"/>
                </a:solidFill>
              </a:rPr>
              <a:t>Un système ML opérationnel, supervisé, capable de s’adapter automatiquement à l’évolution des comportements frauduleux.</a:t>
            </a:r>
            <a:endParaRPr b="1" sz="1000">
              <a:solidFill>
                <a:schemeClr val="lt1"/>
              </a:solidFill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1" sz="1000">
              <a:solidFill>
                <a:schemeClr val="lt1"/>
              </a:solidFill>
            </a:endParaRPr>
          </a:p>
        </p:txBody>
      </p:sp>
      <p:pic>
        <p:nvPicPr>
          <p:cNvPr id="178" name="Google Shape;178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576900" cy="3927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DBD0"/>
        </a:solidFill>
      </p:bgPr>
    </p:bg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7"/>
          <p:cNvSpPr txBox="1"/>
          <p:nvPr>
            <p:ph idx="4294967295" type="ctrTitle"/>
          </p:nvPr>
        </p:nvSpPr>
        <p:spPr>
          <a:xfrm>
            <a:off x="1235600" y="1742168"/>
            <a:ext cx="5315100" cy="6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b="1" i="0" lang="fr" sz="560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Merci! </a:t>
            </a:r>
            <a:endParaRPr b="1" i="0" sz="5600" u="none" cap="none" strike="noStrike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84" name="Google Shape;184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7"/>
          <p:cNvSpPr txBox="1"/>
          <p:nvPr>
            <p:ph idx="4294967295" type="ctrTitle"/>
          </p:nvPr>
        </p:nvSpPr>
        <p:spPr>
          <a:xfrm>
            <a:off x="1274779" y="2606050"/>
            <a:ext cx="7036200" cy="6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b="0" i="0" lang="fr" sz="2400" u="none" cap="none" strike="noStrike">
                <a:solidFill>
                  <a:srgbClr val="0E3449"/>
                </a:solidFill>
                <a:latin typeface="Inter Medium"/>
                <a:ea typeface="Inter Medium"/>
                <a:cs typeface="Inter Medium"/>
                <a:sym typeface="Inter Medium"/>
              </a:rPr>
              <a:t>A bientôt pour de nouvelles aventures…</a:t>
            </a:r>
            <a:endParaRPr b="0" i="0" sz="2400" u="none" cap="none" strike="noStrike">
              <a:solidFill>
                <a:srgbClr val="0E3449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pic>
        <p:nvPicPr>
          <p:cNvPr id="186" name="Google Shape;186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