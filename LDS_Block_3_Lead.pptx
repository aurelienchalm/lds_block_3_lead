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5143500" cx="9144000"/>
  <p:notesSz cx="6858000" cy="9144000"/>
  <p:embeddedFontLst>
    <p:embeddedFont>
      <p:font typeface="Inter"/>
      <p:regular r:id="rId25"/>
      <p:bold r:id="rId26"/>
      <p:italic r:id="rId27"/>
      <p:boldItalic r:id="rId28"/>
    </p:embeddedFont>
    <p:embeddedFont>
      <p:font typeface="Inter Medium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jkZKanLuHY3JQ2ycUTVLojOSn4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Inter-bold.fntdata"/><Relationship Id="rId25" Type="http://schemas.openxmlformats.org/officeDocument/2006/relationships/font" Target="fonts/Inter-regular.fntdata"/><Relationship Id="rId28" Type="http://schemas.openxmlformats.org/officeDocument/2006/relationships/font" Target="fonts/Inter-boldItalic.fntdata"/><Relationship Id="rId27" Type="http://schemas.openxmlformats.org/officeDocument/2006/relationships/font" Target="fonts/Inter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InterMedium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InterMedium-italic.fntdata"/><Relationship Id="rId30" Type="http://schemas.openxmlformats.org/officeDocument/2006/relationships/font" Target="fonts/InterMedium-bold.fntdata"/><Relationship Id="rId11" Type="http://schemas.openxmlformats.org/officeDocument/2006/relationships/slide" Target="slides/slide7.xml"/><Relationship Id="rId33" Type="http://customschemas.google.com/relationships/presentationmetadata" Target="metadata"/><Relationship Id="rId10" Type="http://schemas.openxmlformats.org/officeDocument/2006/relationships/slide" Target="slides/slide6.xml"/><Relationship Id="rId32" Type="http://schemas.openxmlformats.org/officeDocument/2006/relationships/font" Target="fonts/InterMedium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a1eef718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g3a1eef718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9e33c6017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g39e33c6017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e33c6017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g39e33c6017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1eef7185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g3a1eef7185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56c05eff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3a56c05eff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9103f6795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9103f6795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103f67953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g39103f67953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33c6017c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9e33c6017c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33c6017c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9e33c6017c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1eef71857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a1eef71857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103f67953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9103f67953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1eef71857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3a1eef71857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1eef71857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3a1eef71857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1fa3a751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g3a1fa3a751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1fa3a751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a1fa3a751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1fa3a7511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g3a1fa3a7511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1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hyperlink" Target="http://drive.google.com/file/d/1Dn234kk8WcBfuWcgSyHRi4yhzPbx60vM/view" TargetMode="External"/><Relationship Id="rId5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107800" y="1710025"/>
            <a:ext cx="89283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3700">
                <a:solidFill>
                  <a:srgbClr val="0E3449"/>
                </a:solidFill>
              </a:rPr>
              <a:t>Automatic Fraud Detection</a:t>
            </a:r>
            <a:r>
              <a:rPr lang="fr" sz="3700">
                <a:solidFill>
                  <a:srgbClr val="0E3449"/>
                </a:solidFill>
              </a:rPr>
              <a:t> (AIA block 3)</a:t>
            </a:r>
            <a:endParaRPr sz="3700">
              <a:solidFill>
                <a:srgbClr val="0E3449"/>
              </a:solidFill>
            </a:endParaRPr>
          </a:p>
        </p:txBody>
      </p:sp>
      <p:pic>
        <p:nvPicPr>
          <p:cNvPr id="55" name="Google Shape;5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>
            <p:ph type="ctrTitle"/>
          </p:nvPr>
        </p:nvSpPr>
        <p:spPr>
          <a:xfrm>
            <a:off x="0" y="3643262"/>
            <a:ext cx="5315100" cy="1252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700"/>
              <a:t>Aurélien Chalm</a:t>
            </a:r>
            <a:endParaRPr sz="7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900"/>
              <a:t>GitHub : https://github.com/aurelienchalm/LDS_block_3_lead</a:t>
            </a:r>
            <a:endParaRPr sz="2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/>
          <p:nvPr>
            <p:ph idx="4294967295" type="ctrTitle"/>
          </p:nvPr>
        </p:nvSpPr>
        <p:spPr>
          <a:xfrm>
            <a:off x="145925" y="1666825"/>
            <a:ext cx="85215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f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</a:t>
            </a:r>
            <a:r>
              <a:rPr b="1" lang="fr" sz="2400"/>
              <a:t>ntexte &amp; besoin métier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a1eef71857_0_6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800"/>
              <a:t>Contexte &amp; besoin métier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g3a1eef71857_0_6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Un enjeu majeur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La fraude aux cartes bancaires dépasse </a:t>
            </a:r>
            <a:r>
              <a:rPr b="1" lang="fr" sz="1100"/>
              <a:t>1 milliard d’euros/an en Europe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Les équipes paiement doivent réagir </a:t>
            </a:r>
            <a:r>
              <a:rPr b="1" lang="fr" sz="1100"/>
              <a:t>en temps réel</a:t>
            </a:r>
            <a:r>
              <a:rPr lang="fr" sz="1100"/>
              <a:t> pour limiter les pertes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Les besoins identifiés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Détecter instantanément</a:t>
            </a:r>
            <a:r>
              <a:rPr lang="fr" sz="1100"/>
              <a:t> les transactions frauduleuses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Alerter automatiquement</a:t>
            </a:r>
            <a:r>
              <a:rPr lang="fr" sz="1100"/>
              <a:t> les équipes en cas de suspicion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Visualiser les transactions</a:t>
            </a:r>
            <a:r>
              <a:rPr lang="fr" sz="1100"/>
              <a:t> via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 rapport quotidien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 dashboard de suivi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Maintenir la performance du modèle</a:t>
            </a:r>
            <a:r>
              <a:rPr lang="fr" sz="1100"/>
              <a:t>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Surveiller le </a:t>
            </a:r>
            <a:r>
              <a:rPr b="1" lang="fr" sz="1100"/>
              <a:t>data drift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lang="fr" sz="1100"/>
              <a:t>Ré-entraîner automatiquement</a:t>
            </a:r>
            <a:r>
              <a:rPr lang="fr" sz="1100"/>
              <a:t> le modèle dès que nécessaire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00"/>
          </a:p>
        </p:txBody>
      </p:sp>
      <p:pic>
        <p:nvPicPr>
          <p:cNvPr id="70" name="Google Shape;70;g3a1eef71857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e33c6017c_0_38"/>
          <p:cNvSpPr txBox="1"/>
          <p:nvPr>
            <p:ph idx="4294967295" type="ctrTitle"/>
          </p:nvPr>
        </p:nvSpPr>
        <p:spPr>
          <a:xfrm>
            <a:off x="1040275" y="1666825"/>
            <a:ext cx="71157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" sz="2400"/>
              <a:t>Architecture de </a:t>
            </a:r>
            <a:r>
              <a:rPr b="1" lang="fr" sz="2400"/>
              <a:t>détection</a:t>
            </a:r>
            <a:r>
              <a:rPr b="1" lang="fr" sz="2400"/>
              <a:t> de fraude</a:t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6" name="Google Shape;76;g39e33c6017c_0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e33c6017c_0_4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Entraînement initial</a:t>
            </a:r>
            <a:r>
              <a:rPr b="1" lang="fr" sz="1700"/>
              <a:t> du modèle (Notebook -&gt; MLflow)</a:t>
            </a:r>
            <a:endParaRPr b="1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g39e33c6017c_0_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g39e33c6017c_0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1625" y="629100"/>
            <a:ext cx="6590689" cy="4514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1eef71857_0_21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Schéma d’architecture Global en production</a:t>
            </a:r>
            <a:endParaRPr b="1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g3a1eef71857_0_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g3a1eef71857_0_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5013" y="663550"/>
            <a:ext cx="8073973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56c05effe_0_10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</a:t>
            </a:r>
            <a:r>
              <a:rPr b="1" lang="fr" sz="1700"/>
              <a:t>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a56c05effe_0_10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300"/>
              <a:t>🧪 Étape 1 – Développement du modèle de ML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Entraînement d’un modèle de </a:t>
            </a:r>
            <a:r>
              <a:rPr b="1" lang="fr" sz="1100"/>
              <a:t>détection de fraude</a:t>
            </a:r>
            <a:r>
              <a:rPr lang="fr" sz="1100"/>
              <a:t> dans un </a:t>
            </a:r>
            <a:r>
              <a:rPr b="1" lang="fr" sz="1100"/>
              <a:t>notebook</a:t>
            </a:r>
            <a:r>
              <a:rPr lang="fr" sz="1100"/>
              <a:t> (features, tuning, évaluation).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modèle le plus performant est </a:t>
            </a:r>
            <a:r>
              <a:rPr b="1" lang="fr" sz="1100"/>
              <a:t>loggé dans MLflow</a:t>
            </a:r>
            <a:r>
              <a:rPr lang="fr" sz="1100"/>
              <a:t> et promu comme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lang="fr" sz="1100"/>
              <a:t>Version de production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Tagué </a:t>
            </a:r>
            <a:r>
              <a:rPr b="1" lang="fr" sz="1100"/>
              <a:t>champion=true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Création d’une table </a:t>
            </a:r>
            <a:r>
              <a:rPr b="1" lang="fr" sz="1100"/>
              <a:t>fraud_training_dataset</a:t>
            </a:r>
            <a:r>
              <a:rPr lang="fr" sz="1100"/>
              <a:t> dans NeonDB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Contient </a:t>
            </a:r>
            <a:r>
              <a:rPr b="1" lang="fr" sz="1100"/>
              <a:t>toute la donnée d’entraînement initiale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Servira de </a:t>
            </a:r>
            <a:r>
              <a:rPr b="1" lang="fr" sz="1100"/>
              <a:t>base de ré-entrainement</a:t>
            </a:r>
            <a:r>
              <a:rPr lang="fr" sz="1100"/>
              <a:t> en cas de drift détecté.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97" name="Google Shape;97;g3a56c05effe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103f67953_0_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g39103f67953_0_5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⚙️ Étape 2 – Mise en production &amp; scoring temps réel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Airflow</a:t>
            </a:r>
            <a:r>
              <a:rPr lang="fr" sz="1100"/>
              <a:t> orchestre un DAG fraud_realtime_predict :</a:t>
            </a:r>
            <a:br>
              <a:rPr lang="fr" sz="1100"/>
            </a:b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Appel de l’</a:t>
            </a:r>
            <a:r>
              <a:rPr b="1" lang="fr" sz="1100"/>
              <a:t>API de prédiction</a:t>
            </a:r>
            <a:r>
              <a:rPr lang="fr" sz="1100"/>
              <a:t> qui :</a:t>
            </a:r>
            <a:br>
              <a:rPr lang="fr" sz="1100"/>
            </a:br>
            <a:endParaRPr sz="1100"/>
          </a:p>
          <a:p>
            <a:pPr indent="-298450" lvl="2" marL="13716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Charge le modèle champion depuis MLflow</a:t>
            </a:r>
            <a:endParaRPr sz="1100"/>
          </a:p>
          <a:p>
            <a: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Appel de l’API de paiements pour récupérer les transactions (via un appel sur le même réseau Docker)</a:t>
            </a:r>
            <a:br>
              <a:rPr lang="fr" sz="1100"/>
            </a:br>
            <a:endParaRPr b="1" sz="1100"/>
          </a:p>
          <a:p>
            <a:pPr indent="-29845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Calcule la </a:t>
            </a:r>
            <a:r>
              <a:rPr b="1" lang="fr" sz="1100"/>
              <a:t>probabilité de fraude</a:t>
            </a:r>
            <a:br>
              <a:rPr b="1" lang="fr" sz="1100"/>
            </a:br>
            <a:endParaRPr b="1" sz="1100"/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Insère les résultats dans </a:t>
            </a:r>
            <a:r>
              <a:rPr b="1" lang="fr" sz="1100"/>
              <a:t>NeonDB → fraud_realtime_predictions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Si une fraude est détectée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d’un </a:t>
            </a:r>
            <a:r>
              <a:rPr b="1" lang="fr" sz="1100"/>
              <a:t>mail d’alerte automatique</a:t>
            </a:r>
            <a:r>
              <a:rPr lang="fr" sz="1100"/>
              <a:t> aux équipes métiers via l’API </a:t>
            </a:r>
            <a:r>
              <a:rPr b="1" lang="fr" sz="1100"/>
              <a:t>Resend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Les équipes métiers peuvent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Consulter les transactions et fraudes via un </a:t>
            </a:r>
            <a:r>
              <a:rPr b="1" lang="fr" sz="1100"/>
              <a:t>dashboard Streamlit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/>
          </a:p>
        </p:txBody>
      </p:sp>
      <p:pic>
        <p:nvPicPr>
          <p:cNvPr id="104" name="Google Shape;104;g39103f67953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9103f67953_0_16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9103f67953_0_16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300"/>
              <a:t>📊 Reporting quotidien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Un DAG </a:t>
            </a:r>
            <a:r>
              <a:rPr b="1" lang="fr" sz="1100"/>
              <a:t>daily_fraud_report</a:t>
            </a:r>
            <a:r>
              <a:rPr lang="fr" sz="1100"/>
              <a:t> (Airflow) tourne 1 fois par jour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Sélection des transactions de la veille dans fraud_realtime_predictions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Génération d’un </a:t>
            </a:r>
            <a:r>
              <a:rPr b="1" lang="fr" sz="1100"/>
              <a:t>rapport synthétique</a:t>
            </a:r>
            <a:r>
              <a:rPr lang="fr" sz="1100"/>
              <a:t>, incluant la présence de fraudes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du rapport par email aux équipes métiers.</a:t>
            </a:r>
            <a:endParaRPr b="1" sz="1300"/>
          </a:p>
        </p:txBody>
      </p:sp>
      <p:pic>
        <p:nvPicPr>
          <p:cNvPr id="111" name="Google Shape;111;g39103f67953_0_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e33c6017c_0_92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Architecture de </a:t>
            </a:r>
            <a:r>
              <a:rPr b="1" lang="fr" sz="2400"/>
              <a:t>détection</a:t>
            </a:r>
            <a:r>
              <a:rPr b="1" lang="fr" sz="2400"/>
              <a:t> de drift de la donnée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7" name="Google Shape;117;g39e33c6017c_0_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9e33c6017c_0_8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fr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Schema </a:t>
            </a:r>
            <a:r>
              <a:rPr b="1" lang="fr" sz="1700"/>
              <a:t>de detection de drift de la donnée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9e33c6017c_0_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9e33c6017c_0_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650" y="672125"/>
            <a:ext cx="7552841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1eef71857_0_32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Détection</a:t>
            </a:r>
            <a:r>
              <a:rPr b="1" lang="fr" sz="1700"/>
              <a:t> du drift de la donnée avec Evidently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g3a1eef71857_0_32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fr" sz="1700"/>
              <a:t>🔍 Détection quotidienne du drift de la donnée</a:t>
            </a:r>
            <a:endParaRPr b="1" sz="17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Airflow exécute chaque jour</a:t>
            </a:r>
            <a:r>
              <a:rPr lang="fr" sz="1100"/>
              <a:t> le DAG fraud_drift_monitoring.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DAG construit la </a:t>
            </a:r>
            <a:r>
              <a:rPr b="1" lang="fr" sz="1100"/>
              <a:t>baseline de référence</a:t>
            </a:r>
            <a:r>
              <a:rPr lang="fr" sz="1100"/>
              <a:t>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Il récupère dans </a:t>
            </a:r>
            <a:r>
              <a:rPr b="1" lang="fr" sz="1100"/>
              <a:t>NeonDB (fraud_training_dataset)</a:t>
            </a:r>
            <a:br>
              <a:rPr b="1" lang="fr" sz="1100"/>
            </a:br>
            <a:br>
              <a:rPr b="1" lang="fr" sz="1100"/>
            </a:br>
            <a:r>
              <a:rPr lang="fr" sz="1100"/>
              <a:t> → la donnée d’entraînement historique</a:t>
            </a:r>
            <a:br>
              <a:rPr lang="fr" sz="1100"/>
            </a:br>
            <a:br>
              <a:rPr lang="fr" sz="1100"/>
            </a:br>
            <a:r>
              <a:rPr lang="fr" sz="1100"/>
              <a:t> → + la donnée ajoutée quotidiennement (predictions N–1)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Il génère un CSV baseline et l’enregistre dans </a:t>
            </a:r>
            <a:r>
              <a:rPr b="1" lang="fr" sz="1100"/>
              <a:t>S3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Evidently</a:t>
            </a:r>
            <a:r>
              <a:rPr lang="fr" sz="1100"/>
              <a:t> compare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la baseline stockée dans S3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avec les </a:t>
            </a:r>
            <a:r>
              <a:rPr b="1" lang="fr" sz="1100"/>
              <a:t>transactions prédites aujourd’hui</a:t>
            </a:r>
            <a:r>
              <a:rPr lang="fr" sz="1100"/>
              <a:t> (fraud_realtime_predictions)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131" name="Google Shape;131;g3a1eef71857_0_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103f67953_0_2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Détection du drift de la donnée avec Evidently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g39103f67953_0_23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Si dérive détectée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automatique d’un </a:t>
            </a:r>
            <a:r>
              <a:rPr b="1" lang="fr" sz="1100"/>
              <a:t>email d’alerte</a:t>
            </a:r>
            <a:r>
              <a:rPr lang="fr" sz="1100"/>
              <a:t> (via Resend)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L’email contient le </a:t>
            </a:r>
            <a:r>
              <a:rPr b="1" lang="fr" sz="1100"/>
              <a:t>lien direct vers le rapport Evidently</a:t>
            </a:r>
            <a:r>
              <a:rPr lang="fr" sz="1100"/>
              <a:t> (HTML + JSON sur S3)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Validation métier avant ré-entraînement :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 cas de drift, les équipes analysent le rapport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Elles valident que la colonne </a:t>
            </a:r>
            <a:r>
              <a:rPr b="1" lang="fr" sz="1100"/>
              <a:t>is_fraud</a:t>
            </a:r>
            <a:r>
              <a:rPr lang="fr" sz="1100"/>
              <a:t> issue des prédictions est correcte</a:t>
            </a:r>
            <a:br>
              <a:rPr lang="fr" sz="1100"/>
            </a:br>
            <a:br>
              <a:rPr lang="fr" sz="1100"/>
            </a:br>
            <a:r>
              <a:rPr lang="fr" sz="1100"/>
              <a:t> (pour éviter de réentraîner le modèle sur ses propres erreurs)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Boucle d’enrichissement continue :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À la fin du DAG, les </a:t>
            </a:r>
            <a:r>
              <a:rPr b="1" lang="fr" sz="1100"/>
              <a:t>prédictions du jour</a:t>
            </a:r>
            <a:r>
              <a:rPr lang="fr" sz="1100"/>
              <a:t> sont insérées dans</a:t>
            </a:r>
            <a:br>
              <a:rPr lang="fr" sz="1100"/>
            </a:br>
            <a:br>
              <a:rPr lang="fr" sz="1100"/>
            </a:br>
            <a:r>
              <a:rPr lang="fr" sz="1100"/>
              <a:t> fraud_training_dataset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Elles deviennent ainsi partie intégrante de la baseline du lendemain.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</p:txBody>
      </p:sp>
      <p:pic>
        <p:nvPicPr>
          <p:cNvPr id="138" name="Google Shape;138;g39103f67953_0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1eef71857_0_39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Ré-</a:t>
            </a:r>
            <a:r>
              <a:rPr b="1" lang="fr" sz="2400"/>
              <a:t>entraînement</a:t>
            </a:r>
            <a:r>
              <a:rPr b="1" lang="fr" sz="2400"/>
              <a:t> du modèle en cas de drift détecté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4" name="Google Shape;144;g3a1eef71857_0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1eef71857_0_4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Schéma du ré-</a:t>
            </a:r>
            <a:r>
              <a:rPr b="1" lang="fr" sz="1700"/>
              <a:t>entraînement</a:t>
            </a:r>
            <a:r>
              <a:rPr b="1" lang="fr" sz="1700"/>
              <a:t> du modèle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g3a1eef71857_0_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g3a1eef71857_0_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60050"/>
            <a:ext cx="8839202" cy="32731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1fa3a7511_0_11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Ré-</a:t>
            </a:r>
            <a:r>
              <a:rPr b="1" lang="fr" sz="1700"/>
              <a:t>entraînement</a:t>
            </a:r>
            <a:r>
              <a:rPr b="1" lang="fr" sz="1700"/>
              <a:t> du modèle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g3a1fa3a7511_0_11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fr" sz="1700"/>
              <a:t>🔁</a:t>
            </a:r>
            <a:r>
              <a:rPr b="1" lang="fr" sz="1400"/>
              <a:t> Ré-entrainement automatique du modèle</a:t>
            </a:r>
            <a:endParaRPr b="1" sz="14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Objectif : garantir des </a:t>
            </a:r>
            <a:r>
              <a:rPr b="1" lang="fr" sz="1100"/>
              <a:t>prédictions fiables dans le temps</a:t>
            </a:r>
            <a:r>
              <a:rPr lang="fr" sz="1100"/>
              <a:t>, même si la donnée évolue.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Lorsque l’équipe décide de réentraîner le modèle (suite à un drift validé),</a:t>
            </a:r>
            <a:br>
              <a:rPr lang="fr" sz="1100"/>
            </a:br>
            <a:br>
              <a:rPr lang="fr" sz="1100"/>
            </a:br>
            <a:r>
              <a:rPr lang="fr" sz="1100"/>
              <a:t> </a:t>
            </a:r>
            <a:r>
              <a:rPr b="1" lang="fr" sz="1100"/>
              <a:t>Airflow déclenche un pipeline Jenkins</a:t>
            </a:r>
            <a:r>
              <a:rPr lang="fr" sz="1100"/>
              <a:t> via le DAG trigger_jenkins_fraud_retrain.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Jenkins exécute le pipeline CI/CD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Récupération du code source sur </a:t>
            </a:r>
            <a:r>
              <a:rPr b="1" lang="fr" sz="1100"/>
              <a:t>GitHub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Construction de l’image de test → exécution des </a:t>
            </a:r>
            <a:r>
              <a:rPr b="1" lang="fr" sz="1100"/>
              <a:t>tests PyTest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Si tout est valide → exécution du script Python de réentraînement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script entraîne un nouveau modèle XGBoost, le loggue dans </a:t>
            </a:r>
            <a:r>
              <a:rPr b="1" lang="fr" sz="1100"/>
              <a:t>MLflow</a:t>
            </a:r>
            <a:r>
              <a:rPr lang="fr" sz="1100"/>
              <a:t>,</a:t>
            </a:r>
            <a:br>
              <a:rPr lang="fr" sz="1100"/>
            </a:br>
            <a:br>
              <a:rPr lang="fr" sz="1100"/>
            </a:br>
            <a:r>
              <a:rPr lang="fr" sz="1100"/>
              <a:t> puis le </a:t>
            </a:r>
            <a:r>
              <a:rPr b="1" lang="fr" sz="1100"/>
              <a:t>tague “champion”</a:t>
            </a:r>
            <a:r>
              <a:rPr lang="fr" sz="1100"/>
              <a:t>, ce qui remplace la version actuellement en production.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L’API de prédiction interroge en continu </a:t>
            </a:r>
            <a:r>
              <a:rPr b="1" lang="fr" sz="1100"/>
              <a:t>le modèle “champion”</a:t>
            </a:r>
            <a:r>
              <a:rPr lang="fr" sz="1100"/>
              <a:t> sur MLflow :</a:t>
            </a:r>
            <a:br>
              <a:rPr lang="fr" sz="1100"/>
            </a:br>
            <a:br>
              <a:rPr lang="fr" sz="1100"/>
            </a:br>
            <a:r>
              <a:rPr lang="fr" sz="1100"/>
              <a:t> → la nouvelle version est immédiatement opérationnelle,	→ sans interruption de service.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9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58" name="Google Shape;158;g3a1fa3a7511_0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1fa3a7511_0_18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Video de l’a</a:t>
            </a:r>
            <a:r>
              <a:rPr b="1" i="0" lang="f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rchitecture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64" name="Google Shape;164;g3a1fa3a7511_0_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1fa3a7511_0_52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Vidéo de l’a</a:t>
            </a:r>
            <a:r>
              <a:rPr b="1" i="0" lang="fr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rchitecture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g3a1fa3a7511_0_52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71" name="Google Shape;171;g3a1fa3a7511_0_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a1fa3a7511_0_52" title="demo_auto_fraud.mo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86000" y="857250"/>
            <a:ext cx="4572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5774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"/>
          <p:cNvSpPr txBox="1"/>
          <p:nvPr>
            <p:ph idx="4294967295" type="ctrTitle"/>
          </p:nvPr>
        </p:nvSpPr>
        <p:spPr>
          <a:xfrm>
            <a:off x="0" y="392775"/>
            <a:ext cx="8160600" cy="46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Conclusion – Un pipeline complet de détection &amp; monitoring de fraude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Détection en temps réel grâce à une API FastAPI, alimentée par un modèle ML hébergé et versionné dans MLflow (champion tagging).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Orchestration avec Airflow, pilotant : les prédictions quotidiennes, l’envoi d’alertes métiers, la génération automatique des rapports, le ré-</a:t>
            </a:r>
            <a:r>
              <a:rPr b="1" lang="fr" sz="1000">
                <a:solidFill>
                  <a:schemeClr val="lt1"/>
                </a:solidFill>
              </a:rPr>
              <a:t>entraînement</a:t>
            </a:r>
            <a:r>
              <a:rPr b="1" lang="fr" sz="1000">
                <a:solidFill>
                  <a:schemeClr val="lt1"/>
                </a:solidFill>
              </a:rPr>
              <a:t> du modèle.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Surveillance continue du modèle via Evidently, permettant : la détection du data drift, l’envoi d’alertes, la constitution d’une baseline réactualisée.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Boucle de ré-entraînement automatisée : Airflow → Jenkins → ré-entraînement → déploiement d’un nouveau modèle champion.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Architecture complète, modulaire et industrialisable, combinant : APIs (paiements + prédiction), NeonDB pour le stockage applicatif, S3 pour la baseline &amp; les rapports, Dashboard Streamlit pour l’usage métier.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Un système ML opérationnel, supervisé, capable de s’adapter automatiquement à l’évolution des comportements frauduleux.</a:t>
            </a:r>
            <a:endParaRPr b="1" sz="10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sz="1000">
              <a:solidFill>
                <a:schemeClr val="lt1"/>
              </a:solidFill>
            </a:endParaRPr>
          </a:p>
        </p:txBody>
      </p:sp>
      <p:pic>
        <p:nvPicPr>
          <p:cNvPr id="178" name="Google Shape;17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576900" cy="392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"/>
          <p:cNvSpPr txBox="1"/>
          <p:nvPr>
            <p:ph idx="4294967295" type="ctrTitle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i="0" lang="fr" sz="56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Merci! </a:t>
            </a:r>
            <a:endParaRPr b="1" i="0" sz="56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84" name="Google Shape;18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 txBox="1"/>
          <p:nvPr>
            <p:ph idx="4294967295" type="ctrTitle"/>
          </p:nvPr>
        </p:nvSpPr>
        <p:spPr>
          <a:xfrm>
            <a:off x="1274779" y="2606050"/>
            <a:ext cx="70362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" sz="2400" u="none" cap="none" strike="noStrike">
                <a:solidFill>
                  <a:srgbClr val="0E3449"/>
                </a:solidFill>
                <a:latin typeface="Inter Medium"/>
                <a:ea typeface="Inter Medium"/>
                <a:cs typeface="Inter Medium"/>
                <a:sym typeface="Inter Medium"/>
              </a:rPr>
              <a:t>A bientôt pour de nouvelles aventures…</a:t>
            </a:r>
            <a:endParaRPr b="0" i="0" sz="2400" u="none" cap="none" strike="noStrike">
              <a:solidFill>
                <a:srgbClr val="0E344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86" name="Google Shape;18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